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63" r:id="rId5"/>
    <p:sldId id="265" r:id="rId6"/>
    <p:sldId id="264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62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76A55-FDD1-4A47-9405-DE6FCD12CECA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82646-0BDB-4950-B19F-434DF7E215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946A-F4DF-5BAA-6A9B-BBB4DC462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3956B-2297-D619-7EEE-BEFEA3A9A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9E81-4D5C-5366-8BFB-2D48CD9D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3E030-CE3E-76A1-CC06-09BEF3B6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187CF-F90F-C254-585F-43E0ADEC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39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6EEC-B41D-91A5-4E7F-1C1AC246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2CD5C-03D1-879E-5A9B-5AAF82FAE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B8BB2-C175-EF4D-4B5A-FB6B4655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1B46-81F7-5553-88E6-C5A2C9CD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A37C5-6897-52EE-7AE4-4EB6F2B2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64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337F-2828-3289-BFD5-F0014A45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E2E7B-3B4B-8BD2-FEBE-A00731A88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F4938-9DCA-1EC4-4FC5-AE4AE1CF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AB615-F139-D6AF-522F-C3E74443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1B0BB-5EFE-1C05-D7ED-99BEAB7E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000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4D06-5181-4A2E-0D7A-19FB09DD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0FC15-05FE-C34F-4B3E-55AE112124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2274C-02B3-87FC-9692-15E36DE74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9049F-8FB4-DE2C-099D-A7AE77C5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B1CFC-F885-790B-5AD2-CFE9D6B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2419D-B11E-34C9-5671-1C8EF11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13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736A-5685-B814-379D-F7CC1B4F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663B-B77C-6F62-9FA2-09FA34BCC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461F3-BDA9-00C3-64BE-4502CAA1D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89FBB-35C7-45F2-CFF7-AEACAEB68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4D27E-6F41-78A0-19BF-85519811D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C547D-9CAD-F1CD-84CA-55FD7202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1D839-8556-9436-6BB7-D52B1669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68E7E-5F15-2487-BED7-814A2010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7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475B-F630-48DA-A353-38E2996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D6DFC-9E2C-6842-D962-92707A56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5EA79-5799-E45C-C7FC-9C5BED2A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91C11-56B9-31DA-A4F1-7D2C0996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96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BACCB1-BE37-838C-73DF-F6EA36D13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A91A5-6712-41B2-7223-44A86A42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4A41A-4F02-8830-667F-11BEE46A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47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C4037-70AC-7A4E-F311-8A7A7B7C3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0B116-0506-2374-AB35-E814C5E4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CBA03-E121-96E3-6909-43CDDCA5B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78816-4427-BB21-78C4-D253CC92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24555-7ED7-7054-2E90-B7CC6BFF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9277B-8BD4-D01B-F5FB-5EC3A4F9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8F52-ADB7-FBE4-4892-6EF4DF4E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1805E-5304-CDF0-FEE6-A4018F8D0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4F58-D547-1E66-C837-86DC70C1C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B2AAB-1F52-808B-2DA9-8F7C506A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D896E-DD09-EC2B-EF51-399BA8C3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7CEC6-7532-B073-55FD-5F6247D0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33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B1EA-B41C-DDC7-E787-40BC502A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730AC-CFE6-8B79-C4E1-1596FBAB9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553A5-BE7B-7362-95AB-51D7A610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4DA35-1DFF-CA98-8DB7-D5823DCB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9DF74-C8F5-9BEA-0705-2166A085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59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45AB6-EC7E-2AD3-D334-95A4AF315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D9EAB-7058-14B7-DFB1-10E15609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7EC3-94B9-1331-4CE3-31CC0C4D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F01A5-4C6B-939F-4CE7-B6F8FC56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270C-3E77-B2F7-7C19-26D5FABB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699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4C5FF-1521-6185-2CF9-388D9891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519C8-2C9D-08C3-D79D-A30F8CE1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A8FF-6501-ED55-DF78-C46294BE0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84B93-A96A-4931-8331-FEABEEA4E03F}" type="datetimeFigureOut">
              <a:rPr lang="de-DE" smtClean="0"/>
              <a:t>15.10.2024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FE354-944C-7F86-CE8A-44062285A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7E846-5381-324A-EE25-B955A5C5B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23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eon.energy/Neon-Regionale-Netzentgelte.pd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7338-B522-C46C-B8DF-19E8EE14A2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APEM Monthly Meeting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4F944-B961-C196-EA32-FA3442CCB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15.10.2024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985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Project updates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Network tariffs</a:t>
            </a:r>
          </a:p>
        </p:txBody>
      </p:sp>
    </p:spTree>
    <p:extLst>
      <p:ext uri="{BB962C8B-B14F-4D97-AF65-F5344CB8AC3E}">
        <p14:creationId xmlns:p14="http://schemas.microsoft.com/office/powerpoint/2010/main" val="417597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  <a:endParaRPr lang="de-DE" dirty="0"/>
          </a:p>
        </p:txBody>
      </p:sp>
      <p:pic>
        <p:nvPicPr>
          <p:cNvPr id="5" name="Content Placeholder 4" descr="A grid of images on a white surface&#10;&#10;Description automatically generated">
            <a:extLst>
              <a:ext uri="{FF2B5EF4-FFF2-40B4-BE49-F238E27FC236}">
                <a16:creationId xmlns:a16="http://schemas.microsoft.com/office/drawing/2014/main" id="{812A3355-764E-905E-FCAE-1559980AC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29014"/>
            <a:ext cx="10515600" cy="159997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091241-B986-3709-3C94-D7B987A031FC}"/>
              </a:ext>
            </a:extLst>
          </p:cNvPr>
          <p:cNvSpPr/>
          <p:nvPr/>
        </p:nvSpPr>
        <p:spPr>
          <a:xfrm>
            <a:off x="905434" y="3101788"/>
            <a:ext cx="10372165" cy="327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E67118-A521-9E9F-F94D-95F563209EB0}"/>
              </a:ext>
            </a:extLst>
          </p:cNvPr>
          <p:cNvCxnSpPr/>
          <p:nvPr/>
        </p:nvCxnSpPr>
        <p:spPr>
          <a:xfrm>
            <a:off x="8698753" y="2187388"/>
            <a:ext cx="0" cy="441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85B868-596C-04F5-6989-2A9CBF9F6EC2}"/>
              </a:ext>
            </a:extLst>
          </p:cNvPr>
          <p:cNvSpPr txBox="1"/>
          <p:nvPr/>
        </p:nvSpPr>
        <p:spPr>
          <a:xfrm>
            <a:off x="8147833" y="1879611"/>
            <a:ext cx="1101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 are here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081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06FB-E72F-B968-22EA-29585BD35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updates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B4609E-63D2-A50C-0BA0-462A597723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3181"/>
                <a:ext cx="10515600" cy="4351338"/>
              </a:xfrm>
            </p:spPr>
            <p:txBody>
              <a:bodyPr numCol="2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00B050"/>
                    </a:solidFill>
                    <a:latin typeface="+mj-lt"/>
                  </a:rPr>
                  <a:t>Completed</a:t>
                </a: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:r>
                  <a:rPr lang="en-US" sz="1600" dirty="0">
                    <a:latin typeface="+mj-lt"/>
                  </a:rPr>
                  <a:t>Modeling:</a:t>
                </a:r>
              </a:p>
              <a:p>
                <a:pPr lvl="1"/>
                <a:r>
                  <a:rPr lang="en-US" sz="1400" dirty="0">
                    <a:latin typeface="+mj-lt"/>
                  </a:rPr>
                  <a:t>data conversion US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+mj-lt"/>
                  </a:rPr>
                  <a:t> European bidding language</a:t>
                </a:r>
                <a:endParaRPr lang="de-DE" sz="1400" dirty="0">
                  <a:latin typeface="+mj-lt"/>
                </a:endParaRPr>
              </a:p>
              <a:p>
                <a:endParaRPr lang="de-DE" sz="1600" dirty="0">
                  <a:latin typeface="+mj-lt"/>
                </a:endParaRPr>
              </a:p>
              <a:p>
                <a:r>
                  <a:rPr lang="de-DE" sz="1600" dirty="0">
                    <a:latin typeface="+mj-lt"/>
                  </a:rPr>
                  <a:t>Implementation: </a:t>
                </a:r>
              </a:p>
              <a:p>
                <a:pPr lvl="1"/>
                <a:r>
                  <a:rPr lang="de-DE" sz="1400" dirty="0" err="1">
                    <a:latin typeface="+mj-lt"/>
                  </a:rPr>
                  <a:t>Allocation</a:t>
                </a:r>
                <a:r>
                  <a:rPr lang="de-DE" sz="1400" dirty="0">
                    <a:latin typeface="+mj-lt"/>
                  </a:rPr>
                  <a:t>: DCOPF, NTC</a:t>
                </a:r>
              </a:p>
              <a:p>
                <a:pPr lvl="1"/>
                <a:r>
                  <a:rPr lang="de-DE" sz="1400" dirty="0">
                    <a:latin typeface="+mj-lt"/>
                  </a:rPr>
                  <a:t>Pricing: IP, ELMP, </a:t>
                </a:r>
                <a:r>
                  <a:rPr lang="de-DE" sz="1400" dirty="0" err="1">
                    <a:latin typeface="+mj-lt"/>
                  </a:rPr>
                  <a:t>Join</a:t>
                </a:r>
                <a:endParaRPr lang="de-DE" sz="1400" dirty="0">
                  <a:latin typeface="+mj-lt"/>
                </a:endParaRPr>
              </a:p>
              <a:p>
                <a:pPr lvl="1"/>
                <a:r>
                  <a:rPr lang="de-DE" sz="1400" dirty="0">
                    <a:latin typeface="+mj-lt"/>
                  </a:rPr>
                  <a:t>Initial </a:t>
                </a:r>
                <a:r>
                  <a:rPr lang="de-DE" sz="1400" dirty="0" err="1">
                    <a:latin typeface="+mj-lt"/>
                  </a:rPr>
                  <a:t>testing</a:t>
                </a:r>
                <a:endParaRPr lang="de-DE" sz="14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r>
                  <a:rPr lang="de-DE" sz="1800" dirty="0">
                    <a:solidFill>
                      <a:schemeClr val="accent2"/>
                    </a:solidFill>
                    <a:latin typeface="+mj-lt"/>
                  </a:rPr>
                  <a:t>In </a:t>
                </a:r>
                <a:r>
                  <a:rPr lang="de-DE" sz="1800" dirty="0" err="1">
                    <a:solidFill>
                      <a:schemeClr val="accent2"/>
                    </a:solidFill>
                    <a:latin typeface="+mj-lt"/>
                  </a:rPr>
                  <a:t>progress</a:t>
                </a:r>
                <a:endParaRPr lang="de-DE" sz="1800" dirty="0">
                  <a:solidFill>
                    <a:schemeClr val="accent2"/>
                  </a:solidFill>
                  <a:latin typeface="+mj-lt"/>
                </a:endParaRPr>
              </a:p>
              <a:p>
                <a:pPr marL="457200" lvl="1" indent="0">
                  <a:buNone/>
                </a:pPr>
                <a:endParaRPr lang="en-US" sz="1600" dirty="0">
                  <a:solidFill>
                    <a:srgbClr val="FF0000"/>
                  </a:solidFill>
                  <a:latin typeface="+mj-lt"/>
                </a:endParaRPr>
              </a:p>
              <a:p>
                <a:pPr marL="457200" lvl="1" indent="0">
                  <a:buNone/>
                </a:pPr>
                <a:endParaRPr lang="en-US" sz="1600" dirty="0">
                  <a:solidFill>
                    <a:srgbClr val="FF0000"/>
                  </a:solidFill>
                  <a:latin typeface="+mj-lt"/>
                </a:endParaRPr>
              </a:p>
              <a:p>
                <a:pPr lvl="1"/>
                <a:r>
                  <a:rPr lang="en-US" sz="1600" dirty="0">
                    <a:latin typeface="+mj-lt"/>
                  </a:rPr>
                  <a:t>Implementation data conversion </a:t>
                </a:r>
              </a:p>
              <a:p>
                <a:pPr lvl="1"/>
                <a:endParaRPr lang="en-US" sz="1600" dirty="0">
                  <a:latin typeface="+mj-lt"/>
                </a:endParaRPr>
              </a:p>
              <a:p>
                <a:pPr lvl="1"/>
                <a:r>
                  <a:rPr lang="en-US" sz="1600" dirty="0">
                    <a:solidFill>
                      <a:srgbClr val="FF0000"/>
                    </a:solidFill>
                    <a:latin typeface="+mj-lt"/>
                  </a:rPr>
                  <a:t>EUPHEMIA </a:t>
                </a:r>
                <a:endParaRPr lang="en-US" sz="1600" dirty="0">
                  <a:latin typeface="+mj-lt"/>
                </a:endParaRPr>
              </a:p>
              <a:p>
                <a:pPr lvl="2"/>
                <a:r>
                  <a:rPr lang="en-US" sz="1400" dirty="0">
                    <a:latin typeface="+mj-lt"/>
                  </a:rPr>
                  <a:t>Mathematical model based on the public description &amp; </a:t>
                </a:r>
                <a:r>
                  <a:rPr lang="en-US" sz="1400" dirty="0" err="1">
                    <a:latin typeface="+mj-lt"/>
                  </a:rPr>
                  <a:t>openDAM</a:t>
                </a:r>
                <a:endParaRPr lang="en-US" sz="1400" dirty="0">
                  <a:latin typeface="+mj-lt"/>
                </a:endParaRPr>
              </a:p>
              <a:p>
                <a:pPr lvl="2"/>
                <a:r>
                  <a:rPr lang="en-US" sz="1400" dirty="0">
                    <a:latin typeface="+mj-lt"/>
                  </a:rPr>
                  <a:t>Basic implementation by the end of the year</a:t>
                </a:r>
              </a:p>
              <a:p>
                <a:pPr lvl="3"/>
                <a:r>
                  <a:rPr lang="en-US" sz="1400" dirty="0">
                    <a:latin typeface="+mj-lt"/>
                  </a:rPr>
                  <a:t>Order book</a:t>
                </a:r>
              </a:p>
              <a:p>
                <a:pPr lvl="3"/>
                <a:r>
                  <a:rPr lang="en-US" sz="1400" dirty="0">
                    <a:latin typeface="+mj-lt"/>
                  </a:rPr>
                  <a:t>NTC</a:t>
                </a:r>
              </a:p>
              <a:p>
                <a:pPr marL="457200" lvl="1" indent="0">
                  <a:buNone/>
                </a:pPr>
                <a:endParaRPr lang="en-US" sz="1600" dirty="0">
                  <a:latin typeface="+mj-lt"/>
                </a:endParaRPr>
              </a:p>
              <a:p>
                <a:pPr marL="457200" lvl="1" indent="0">
                  <a:buNone/>
                </a:pPr>
                <a:endParaRPr lang="en-US" sz="1600" dirty="0">
                  <a:latin typeface="+mj-lt"/>
                </a:endParaRPr>
              </a:p>
              <a:p>
                <a:pPr marL="457200" lvl="1" indent="0">
                  <a:buNone/>
                </a:pPr>
                <a:endParaRPr lang="en-US" sz="1600" dirty="0">
                  <a:solidFill>
                    <a:srgbClr val="FF0000"/>
                  </a:solidFill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6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B4609E-63D2-A50C-0BA0-462A59772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3181"/>
                <a:ext cx="10515600" cy="4351338"/>
              </a:xfrm>
              <a:blipFill>
                <a:blip r:embed="rId2"/>
                <a:stretch>
                  <a:fillRect l="-232" t="-14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grid of images on a white surface&#10;&#10;Description automatically generated">
            <a:extLst>
              <a:ext uri="{FF2B5EF4-FFF2-40B4-BE49-F238E27FC236}">
                <a16:creationId xmlns:a16="http://schemas.microsoft.com/office/drawing/2014/main" id="{E65C6642-289A-FCDC-EE9B-94DAAD9A3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26" y="5421708"/>
            <a:ext cx="8459364" cy="12871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4574FF-AC1C-61A8-EE8B-BCB0D1402154}"/>
              </a:ext>
            </a:extLst>
          </p:cNvPr>
          <p:cNvSpPr/>
          <p:nvPr/>
        </p:nvSpPr>
        <p:spPr>
          <a:xfrm>
            <a:off x="506427" y="5836427"/>
            <a:ext cx="8459362" cy="232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503EC9-0B02-994F-EBC6-3EB524A08733}"/>
              </a:ext>
            </a:extLst>
          </p:cNvPr>
          <p:cNvCxnSpPr>
            <a:cxnSpLocks/>
          </p:cNvCxnSpPr>
          <p:nvPr/>
        </p:nvCxnSpPr>
        <p:spPr>
          <a:xfrm>
            <a:off x="6821401" y="5230575"/>
            <a:ext cx="0" cy="220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F1E31E-3FA7-BDFB-0418-B0F54E3E6CDC}"/>
              </a:ext>
            </a:extLst>
          </p:cNvPr>
          <p:cNvSpPr txBox="1"/>
          <p:nvPr/>
        </p:nvSpPr>
        <p:spPr>
          <a:xfrm>
            <a:off x="6270481" y="5006067"/>
            <a:ext cx="110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 are here</a:t>
            </a:r>
            <a:endParaRPr lang="de-DE" sz="1200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9909262-11B5-AA1C-086F-93FB6D6F4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920" y="1406612"/>
            <a:ext cx="5952653" cy="32883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E595BEE-20BB-E3A3-B59D-3F7A9F1AC650}"/>
              </a:ext>
            </a:extLst>
          </p:cNvPr>
          <p:cNvSpPr/>
          <p:nvPr/>
        </p:nvSpPr>
        <p:spPr>
          <a:xfrm>
            <a:off x="8717339" y="4172157"/>
            <a:ext cx="863632" cy="44145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4F4B38-F4D4-C683-0BF1-2291207F65FC}"/>
              </a:ext>
            </a:extLst>
          </p:cNvPr>
          <p:cNvSpPr/>
          <p:nvPr/>
        </p:nvSpPr>
        <p:spPr>
          <a:xfrm>
            <a:off x="10763275" y="1625509"/>
            <a:ext cx="863632" cy="86683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E529B5-AE15-B32B-69C1-B6D3ED3AEEE3}"/>
              </a:ext>
            </a:extLst>
          </p:cNvPr>
          <p:cNvSpPr/>
          <p:nvPr/>
        </p:nvSpPr>
        <p:spPr>
          <a:xfrm>
            <a:off x="9402465" y="1892573"/>
            <a:ext cx="863632" cy="17898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128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06FB-E72F-B968-22EA-29585BD35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updates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B4609E-63D2-A50C-0BA0-462A597723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3181"/>
                <a:ext cx="10515600" cy="4351338"/>
              </a:xfrm>
            </p:spPr>
            <p:txBody>
              <a:bodyPr numCol="2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00B050"/>
                    </a:solidFill>
                    <a:latin typeface="+mj-lt"/>
                  </a:rPr>
                  <a:t>Completed</a:t>
                </a: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:r>
                  <a:rPr lang="en-US" sz="1600" dirty="0">
                    <a:latin typeface="+mj-lt"/>
                  </a:rPr>
                  <a:t>Modeling:</a:t>
                </a:r>
              </a:p>
              <a:p>
                <a:pPr lvl="1"/>
                <a:r>
                  <a:rPr lang="en-US" sz="1400" dirty="0">
                    <a:latin typeface="+mj-lt"/>
                  </a:rPr>
                  <a:t>data conversion US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+mj-lt"/>
                  </a:rPr>
                  <a:t> European bidding language</a:t>
                </a:r>
                <a:endParaRPr lang="de-DE" sz="1400" dirty="0">
                  <a:latin typeface="+mj-lt"/>
                </a:endParaRPr>
              </a:p>
              <a:p>
                <a:endParaRPr lang="de-DE" sz="1600" dirty="0">
                  <a:latin typeface="+mj-lt"/>
                </a:endParaRPr>
              </a:p>
              <a:p>
                <a:r>
                  <a:rPr lang="de-DE" sz="1600" dirty="0">
                    <a:latin typeface="+mj-lt"/>
                  </a:rPr>
                  <a:t>Implementation: </a:t>
                </a:r>
              </a:p>
              <a:p>
                <a:pPr lvl="1"/>
                <a:r>
                  <a:rPr lang="de-DE" sz="1400" dirty="0" err="1">
                    <a:latin typeface="+mj-lt"/>
                  </a:rPr>
                  <a:t>Allocation</a:t>
                </a:r>
                <a:r>
                  <a:rPr lang="de-DE" sz="1400" dirty="0">
                    <a:latin typeface="+mj-lt"/>
                  </a:rPr>
                  <a:t>: DCOPF, NTC</a:t>
                </a:r>
              </a:p>
              <a:p>
                <a:pPr lvl="1"/>
                <a:r>
                  <a:rPr lang="de-DE" sz="1400" dirty="0">
                    <a:latin typeface="+mj-lt"/>
                  </a:rPr>
                  <a:t>Pricing: IP, ELMP, </a:t>
                </a:r>
                <a:r>
                  <a:rPr lang="de-DE" sz="1400" dirty="0" err="1">
                    <a:latin typeface="+mj-lt"/>
                  </a:rPr>
                  <a:t>Join</a:t>
                </a:r>
                <a:endParaRPr lang="de-DE" sz="1400" dirty="0">
                  <a:latin typeface="+mj-lt"/>
                </a:endParaRPr>
              </a:p>
              <a:p>
                <a:pPr lvl="1"/>
                <a:r>
                  <a:rPr lang="de-DE" sz="1400" dirty="0">
                    <a:latin typeface="+mj-lt"/>
                  </a:rPr>
                  <a:t>Initial </a:t>
                </a:r>
                <a:r>
                  <a:rPr lang="de-DE" sz="1400" dirty="0" err="1">
                    <a:latin typeface="+mj-lt"/>
                  </a:rPr>
                  <a:t>testing</a:t>
                </a:r>
                <a:endParaRPr lang="de-DE" sz="14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200" dirty="0">
                  <a:latin typeface="+mj-lt"/>
                </a:endParaRPr>
              </a:p>
              <a:p>
                <a:pPr marL="457200" lvl="1" indent="0" algn="ctr">
                  <a:buNone/>
                </a:pPr>
                <a:r>
                  <a:rPr lang="de-DE" sz="1800" dirty="0">
                    <a:solidFill>
                      <a:schemeClr val="accent2"/>
                    </a:solidFill>
                    <a:latin typeface="+mj-lt"/>
                  </a:rPr>
                  <a:t>In </a:t>
                </a:r>
                <a:r>
                  <a:rPr lang="de-DE" sz="1800" dirty="0" err="1">
                    <a:solidFill>
                      <a:schemeClr val="accent2"/>
                    </a:solidFill>
                    <a:latin typeface="+mj-lt"/>
                  </a:rPr>
                  <a:t>progress</a:t>
                </a:r>
                <a:endParaRPr lang="de-DE" sz="1800" dirty="0">
                  <a:solidFill>
                    <a:schemeClr val="accent2"/>
                  </a:solidFill>
                  <a:latin typeface="+mj-lt"/>
                </a:endParaRPr>
              </a:p>
              <a:p>
                <a:pPr marL="457200" lvl="1" indent="0">
                  <a:buNone/>
                </a:pPr>
                <a:endParaRPr lang="en-US" sz="1600" dirty="0">
                  <a:solidFill>
                    <a:srgbClr val="FF0000"/>
                  </a:solidFill>
                  <a:latin typeface="+mj-lt"/>
                </a:endParaRPr>
              </a:p>
              <a:p>
                <a:pPr marL="457200" lvl="1" indent="0">
                  <a:buNone/>
                </a:pPr>
                <a:endParaRPr lang="en-US" sz="1600" dirty="0">
                  <a:solidFill>
                    <a:srgbClr val="FF0000"/>
                  </a:solidFill>
                  <a:latin typeface="+mj-lt"/>
                </a:endParaRPr>
              </a:p>
              <a:p>
                <a:pPr lvl="1"/>
                <a:r>
                  <a:rPr lang="en-US" sz="1600" dirty="0">
                    <a:latin typeface="+mj-lt"/>
                  </a:rPr>
                  <a:t>Implementation data conversion </a:t>
                </a:r>
              </a:p>
              <a:p>
                <a:pPr lvl="1"/>
                <a:endParaRPr lang="en-US" sz="1600" dirty="0">
                  <a:latin typeface="+mj-lt"/>
                </a:endParaRPr>
              </a:p>
              <a:p>
                <a:pPr lvl="1"/>
                <a:r>
                  <a:rPr lang="en-US" sz="1600" dirty="0">
                    <a:solidFill>
                      <a:srgbClr val="FF0000"/>
                    </a:solidFill>
                    <a:latin typeface="+mj-lt"/>
                  </a:rPr>
                  <a:t>EUPHEMIA </a:t>
                </a:r>
                <a:endParaRPr lang="en-US" sz="1600" dirty="0">
                  <a:latin typeface="+mj-lt"/>
                </a:endParaRPr>
              </a:p>
              <a:p>
                <a:pPr lvl="2"/>
                <a:r>
                  <a:rPr lang="en-US" sz="1400" dirty="0">
                    <a:latin typeface="+mj-lt"/>
                  </a:rPr>
                  <a:t>Mathematical model based on the public description &amp; </a:t>
                </a:r>
                <a:r>
                  <a:rPr lang="en-US" sz="1400" dirty="0" err="1">
                    <a:latin typeface="+mj-lt"/>
                  </a:rPr>
                  <a:t>openDAM</a:t>
                </a:r>
                <a:endParaRPr lang="en-US" sz="1400" dirty="0">
                  <a:latin typeface="+mj-lt"/>
                </a:endParaRPr>
              </a:p>
              <a:p>
                <a:pPr lvl="2"/>
                <a:r>
                  <a:rPr lang="en-US" sz="1400" dirty="0">
                    <a:latin typeface="+mj-lt"/>
                  </a:rPr>
                  <a:t>Basic implementation by the end of the year</a:t>
                </a:r>
              </a:p>
              <a:p>
                <a:pPr lvl="3"/>
                <a:r>
                  <a:rPr lang="en-US" sz="1400" dirty="0">
                    <a:latin typeface="+mj-lt"/>
                  </a:rPr>
                  <a:t>Order book</a:t>
                </a:r>
              </a:p>
              <a:p>
                <a:pPr lvl="3"/>
                <a:r>
                  <a:rPr lang="en-US" sz="1400" dirty="0">
                    <a:latin typeface="+mj-lt"/>
                  </a:rPr>
                  <a:t>NTC</a:t>
                </a:r>
              </a:p>
              <a:p>
                <a:pPr marL="457200" lvl="1" indent="0">
                  <a:buNone/>
                </a:pPr>
                <a:endParaRPr lang="en-US" sz="1600" dirty="0">
                  <a:latin typeface="+mj-lt"/>
                </a:endParaRPr>
              </a:p>
              <a:p>
                <a:pPr lvl="1"/>
                <a:r>
                  <a:rPr lang="en-US" sz="1600" dirty="0">
                    <a:latin typeface="+mj-lt"/>
                  </a:rPr>
                  <a:t>WP7</a:t>
                </a:r>
              </a:p>
              <a:p>
                <a:pPr marL="457200" lvl="1" indent="0">
                  <a:buNone/>
                </a:pPr>
                <a:endParaRPr lang="en-US" sz="1600" dirty="0">
                  <a:solidFill>
                    <a:srgbClr val="FF0000"/>
                  </a:solidFill>
                  <a:latin typeface="+mj-lt"/>
                </a:endParaRPr>
              </a:p>
              <a:p>
                <a:pPr marL="457200" lvl="1" indent="0" algn="ctr">
                  <a:buNone/>
                </a:pPr>
                <a:endParaRPr lang="de-DE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B4609E-63D2-A50C-0BA0-462A59772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3181"/>
                <a:ext cx="10515600" cy="4351338"/>
              </a:xfrm>
              <a:blipFill>
                <a:blip r:embed="rId2"/>
                <a:stretch>
                  <a:fillRect l="-232" t="-14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grid of images on a white surface&#10;&#10;Description automatically generated">
            <a:extLst>
              <a:ext uri="{FF2B5EF4-FFF2-40B4-BE49-F238E27FC236}">
                <a16:creationId xmlns:a16="http://schemas.microsoft.com/office/drawing/2014/main" id="{E65C6642-289A-FCDC-EE9B-94DAAD9A3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26" y="5421708"/>
            <a:ext cx="8459364" cy="12871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4574FF-AC1C-61A8-EE8B-BCB0D1402154}"/>
              </a:ext>
            </a:extLst>
          </p:cNvPr>
          <p:cNvSpPr/>
          <p:nvPr/>
        </p:nvSpPr>
        <p:spPr>
          <a:xfrm>
            <a:off x="506427" y="5836427"/>
            <a:ext cx="8459362" cy="232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503EC9-0B02-994F-EBC6-3EB524A08733}"/>
              </a:ext>
            </a:extLst>
          </p:cNvPr>
          <p:cNvCxnSpPr>
            <a:cxnSpLocks/>
          </p:cNvCxnSpPr>
          <p:nvPr/>
        </p:nvCxnSpPr>
        <p:spPr>
          <a:xfrm>
            <a:off x="6821401" y="5230575"/>
            <a:ext cx="0" cy="220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F1E31E-3FA7-BDFB-0418-B0F54E3E6CDC}"/>
              </a:ext>
            </a:extLst>
          </p:cNvPr>
          <p:cNvSpPr txBox="1"/>
          <p:nvPr/>
        </p:nvSpPr>
        <p:spPr>
          <a:xfrm>
            <a:off x="6270481" y="5006067"/>
            <a:ext cx="110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 are here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2643713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F2B0-88E5-A4C5-BA0E-C750D92F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tariffs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B6D5-D89C-11B3-EEA5-5C8000DB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Current situation</a:t>
            </a:r>
            <a:endParaRPr lang="de-DE" sz="2000" dirty="0"/>
          </a:p>
          <a:p>
            <a:endParaRPr lang="de-DE" sz="2000" dirty="0"/>
          </a:p>
          <a:p>
            <a:r>
              <a:rPr lang="de-DE" sz="2000" dirty="0" err="1"/>
              <a:t>Local</a:t>
            </a:r>
            <a:r>
              <a:rPr lang="de-DE" sz="2000" dirty="0"/>
              <a:t> &amp; temporal </a:t>
            </a:r>
            <a:r>
              <a:rPr lang="de-DE" sz="2000" dirty="0" err="1"/>
              <a:t>differentiation</a:t>
            </a:r>
            <a:r>
              <a:rPr lang="de-DE" sz="2000" dirty="0"/>
              <a:t>?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5A76EE8-E0B6-94C9-0A03-D2900DCCD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687" y="3079553"/>
            <a:ext cx="4830626" cy="33387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58D3D8-A5C9-A472-5F66-ED6D75FB124F}"/>
              </a:ext>
            </a:extLst>
          </p:cNvPr>
          <p:cNvSpPr txBox="1"/>
          <p:nvPr/>
        </p:nvSpPr>
        <p:spPr>
          <a:xfrm>
            <a:off x="5422900" y="6492875"/>
            <a:ext cx="6712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“</a:t>
            </a:r>
            <a:r>
              <a:rPr lang="en-US" sz="1200" dirty="0" err="1"/>
              <a:t>Windstrom</a:t>
            </a:r>
            <a:r>
              <a:rPr lang="en-US" sz="1200" dirty="0"/>
              <a:t> </a:t>
            </a:r>
            <a:r>
              <a:rPr lang="en-US" sz="1200" dirty="0" err="1"/>
              <a:t>nutzen</a:t>
            </a:r>
            <a:r>
              <a:rPr lang="en-US" sz="1200" dirty="0"/>
              <a:t> </a:t>
            </a:r>
            <a:r>
              <a:rPr lang="en-US" sz="1200" dirty="0" err="1"/>
              <a:t>statt</a:t>
            </a:r>
            <a:r>
              <a:rPr lang="en-US" sz="1200" dirty="0"/>
              <a:t> </a:t>
            </a:r>
            <a:r>
              <a:rPr lang="en-US" sz="1200" dirty="0" err="1"/>
              <a:t>abregeln</a:t>
            </a:r>
            <a:r>
              <a:rPr lang="en-US" sz="1200" dirty="0"/>
              <a:t>”, </a:t>
            </a:r>
            <a:r>
              <a:rPr lang="en-US" sz="1200" dirty="0">
                <a:hlinkClick r:id="rId3"/>
              </a:rPr>
              <a:t>https://neon.energy/Neon-Regionale-Netzentgelte.pdf</a:t>
            </a:r>
            <a:r>
              <a:rPr lang="en-US" sz="1200" dirty="0"/>
              <a:t> </a:t>
            </a:r>
            <a:endParaRPr lang="en-US" sz="1200" b="1" dirty="0"/>
          </a:p>
          <a:p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568428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Widescreen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APEM Monthly Meeting</vt:lpstr>
      <vt:lpstr>Agenda</vt:lpstr>
      <vt:lpstr>Timeline</vt:lpstr>
      <vt:lpstr>Project updates</vt:lpstr>
      <vt:lpstr>Project updates</vt:lpstr>
      <vt:lpstr>Network tariffs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Dobos</dc:creator>
  <cp:lastModifiedBy>Teodora Dobos</cp:lastModifiedBy>
  <cp:revision>16</cp:revision>
  <dcterms:created xsi:type="dcterms:W3CDTF">2024-07-10T11:40:56Z</dcterms:created>
  <dcterms:modified xsi:type="dcterms:W3CDTF">2024-10-15T08:52:01Z</dcterms:modified>
</cp:coreProperties>
</file>