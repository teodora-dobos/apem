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63" r:id="rId6"/>
    <p:sldId id="264" r:id="rId7"/>
    <p:sldId id="266" r:id="rId8"/>
    <p:sldId id="274" r:id="rId9"/>
    <p:sldId id="276" r:id="rId10"/>
    <p:sldId id="261" r:id="rId11"/>
    <p:sldId id="269" r:id="rId12"/>
    <p:sldId id="267" r:id="rId13"/>
    <p:sldId id="268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62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76A55-FDD1-4A47-9405-DE6FCD12CECA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82646-0BDB-4950-B19F-434DF7E215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https://publica-rest.fraunhofer.de/server/api/core/bitstreams/98e2ef12-25e9-4778-b087-d0eddfd6b4ba/content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82646-0BDB-4950-B19F-434DF7E215C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5194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946A-F4DF-5BAA-6A9B-BBB4DC462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3956B-2297-D619-7EEE-BEFEA3A9A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9E81-4D5C-5366-8BFB-2D48CD9D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E030-CE3E-76A1-CC06-09BEF3B6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87CF-F90F-C254-585F-43E0ADEC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39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6EEC-B41D-91A5-4E7F-1C1AC246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CD5C-03D1-879E-5A9B-5AAF82FA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B8BB2-C175-EF4D-4B5A-FB6B4655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1B46-81F7-5553-88E6-C5A2C9CD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A37C5-6897-52EE-7AE4-4EB6F2B2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64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337F-2828-3289-BFD5-F0014A45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E2E7B-3B4B-8BD2-FEBE-A00731A88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F4938-9DCA-1EC4-4FC5-AE4AE1CF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AB615-F139-D6AF-522F-C3E74443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B0BB-5EFE-1C05-D7ED-99BEAB7E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000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4D06-5181-4A2E-0D7A-19FB09DD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0FC15-05FE-C34F-4B3E-55AE11212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2274C-02B3-87FC-9692-15E36DE74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9049F-8FB4-DE2C-099D-A7AE77C5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1CFC-F885-790B-5AD2-CFE9D6B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2419D-B11E-34C9-5671-1C8EF11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13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736A-5685-B814-379D-F7CC1B4F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663B-B77C-6F62-9FA2-09FA34BCC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461F3-BDA9-00C3-64BE-4502CAA1D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89FBB-35C7-45F2-CFF7-AEACAEB68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4D27E-6F41-78A0-19BF-85519811D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C547D-9CAD-F1CD-84CA-55FD7202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D839-8556-9436-6BB7-D52B1669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68E7E-5F15-2487-BED7-814A2010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7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475B-F630-48DA-A353-38E2996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6DFC-9E2C-6842-D962-92707A56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5EA79-5799-E45C-C7FC-9C5BED2A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91C11-56B9-31DA-A4F1-7D2C0996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96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ACCB1-BE37-838C-73DF-F6EA36D1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A91A5-6712-41B2-7223-44A86A42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4A41A-4F02-8830-667F-11BEE46A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47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4037-70AC-7A4E-F311-8A7A7B7C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B116-0506-2374-AB35-E814C5E4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BA03-E121-96E3-6909-43CDDCA5B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78816-4427-BB21-78C4-D253CC92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24555-7ED7-7054-2E90-B7CC6BFF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9277B-8BD4-D01B-F5FB-5EC3A4F9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8F52-ADB7-FBE4-4892-6EF4DF4E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1805E-5304-CDF0-FEE6-A4018F8D0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4F58-D547-1E66-C837-86DC70C1C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B2AAB-1F52-808B-2DA9-8F7C506A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D896E-DD09-EC2B-EF51-399BA8C3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7CEC6-7532-B073-55FD-5F6247D0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33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B1EA-B41C-DDC7-E787-40BC502A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730AC-CFE6-8B79-C4E1-1596FBAB9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553A5-BE7B-7362-95AB-51D7A610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4DA35-1DFF-CA98-8DB7-D5823DCB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9DF74-C8F5-9BEA-0705-2166A08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59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45AB6-EC7E-2AD3-D334-95A4AF315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D9EAB-7058-14B7-DFB1-10E15609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7EC3-94B9-1331-4CE3-31CC0C4D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01A5-4C6B-939F-4CE7-B6F8FC56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270C-3E77-B2F7-7C19-26D5FABB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99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4C5FF-1521-6185-2CF9-388D9891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519C8-2C9D-08C3-D79D-A30F8CE1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A8FF-6501-ED55-DF78-C46294BE0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4B93-A96A-4931-8331-FEABEEA4E03F}" type="datetimeFigureOut">
              <a:rPr lang="de-DE" smtClean="0"/>
              <a:t>12.09.2024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FE354-944C-7F86-CE8A-44062285A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7E846-5381-324A-EE25-B955A5C5B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23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7338-B522-C46C-B8DF-19E8EE14A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APEM Monthly Meeting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4F944-B961-C196-EA32-FA3442CCB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12.09.2024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985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Project updates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Redispatch 3.0, Local flexibility markets, Network tariffs</a:t>
            </a:r>
          </a:p>
        </p:txBody>
      </p:sp>
    </p:spTree>
    <p:extLst>
      <p:ext uri="{BB962C8B-B14F-4D97-AF65-F5344CB8AC3E}">
        <p14:creationId xmlns:p14="http://schemas.microsoft.com/office/powerpoint/2010/main" val="417597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lang="de-DE" dirty="0"/>
          </a:p>
        </p:txBody>
      </p:sp>
      <p:pic>
        <p:nvPicPr>
          <p:cNvPr id="5" name="Content Placeholder 4" descr="A grid of images on a white surface&#10;&#10;Description automatically generated">
            <a:extLst>
              <a:ext uri="{FF2B5EF4-FFF2-40B4-BE49-F238E27FC236}">
                <a16:creationId xmlns:a16="http://schemas.microsoft.com/office/drawing/2014/main" id="{812A3355-764E-905E-FCAE-1559980AC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9014"/>
            <a:ext cx="10515600" cy="159997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091241-B986-3709-3C94-D7B987A031FC}"/>
              </a:ext>
            </a:extLst>
          </p:cNvPr>
          <p:cNvSpPr/>
          <p:nvPr/>
        </p:nvSpPr>
        <p:spPr>
          <a:xfrm>
            <a:off x="905434" y="3101788"/>
            <a:ext cx="10372165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E67118-A521-9E9F-F94D-95F563209EB0}"/>
              </a:ext>
            </a:extLst>
          </p:cNvPr>
          <p:cNvCxnSpPr/>
          <p:nvPr/>
        </p:nvCxnSpPr>
        <p:spPr>
          <a:xfrm>
            <a:off x="8292353" y="2187388"/>
            <a:ext cx="0" cy="441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85B868-596C-04F5-6989-2A9CBF9F6EC2}"/>
              </a:ext>
            </a:extLst>
          </p:cNvPr>
          <p:cNvSpPr txBox="1"/>
          <p:nvPr/>
        </p:nvSpPr>
        <p:spPr>
          <a:xfrm>
            <a:off x="7741433" y="1844904"/>
            <a:ext cx="1101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 are here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081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EUPHEMIA – </a:t>
            </a:r>
            <a:r>
              <a:rPr lang="en-US" sz="2000" dirty="0" err="1"/>
              <a:t>openDAM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Pricing rules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3101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9D653E-9EC8-CC14-BA22-7A3BB9FD6C3D}"/>
              </a:ext>
            </a:extLst>
          </p:cNvPr>
          <p:cNvSpPr txBox="1"/>
          <p:nvPr/>
        </p:nvSpPr>
        <p:spPr>
          <a:xfrm>
            <a:off x="6600020" y="1026459"/>
            <a:ext cx="2688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Local incentives</a:t>
            </a:r>
            <a:endParaRPr lang="de-DE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9C0F0-7937-0F2C-1814-914DDA8C51EE}"/>
              </a:ext>
            </a:extLst>
          </p:cNvPr>
          <p:cNvSpPr txBox="1"/>
          <p:nvPr/>
        </p:nvSpPr>
        <p:spPr>
          <a:xfrm>
            <a:off x="904939" y="1026459"/>
            <a:ext cx="4087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Congestion management</a:t>
            </a:r>
            <a:endParaRPr lang="de-DE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22AA24-6AB8-19D1-7441-9B3E421F7E89}"/>
                  </a:ext>
                </a:extLst>
              </p:cNvPr>
              <p:cNvSpPr txBox="1"/>
              <p:nvPr/>
            </p:nvSpPr>
            <p:spPr>
              <a:xfrm>
                <a:off x="949762" y="2069068"/>
                <a:ext cx="517128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Redispatch 2.0 – problems: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cost-based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large redispatch costs &amp; volumes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small units not integrated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“spontaneous”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RES curtailment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22AA24-6AB8-19D1-7441-9B3E421F7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62" y="2069068"/>
                <a:ext cx="5171287" cy="1477328"/>
              </a:xfrm>
              <a:prstGeom prst="rect">
                <a:avLst/>
              </a:prstGeom>
              <a:blipFill>
                <a:blip r:embed="rId2"/>
                <a:stretch>
                  <a:fillRect l="-1061" t="-1646" r="-2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89CB678-D6F6-2A77-5360-60A09C55D357}"/>
              </a:ext>
            </a:extLst>
          </p:cNvPr>
          <p:cNvSpPr txBox="1"/>
          <p:nvPr/>
        </p:nvSpPr>
        <p:spPr>
          <a:xfrm>
            <a:off x="873561" y="3747245"/>
            <a:ext cx="51103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Redispatch 3.0: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forecast-based</a:t>
            </a:r>
            <a:r>
              <a:rPr lang="en-US" dirty="0"/>
              <a:t> congestion avoidance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market-based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of </a:t>
            </a:r>
            <a:r>
              <a:rPr lang="en-US" b="1" dirty="0"/>
              <a:t>small units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flexibility</a:t>
            </a:r>
            <a:r>
              <a:rPr lang="en-US" dirty="0"/>
              <a:t> platforms: GOPACS, </a:t>
            </a:r>
            <a:r>
              <a:rPr lang="en-US" dirty="0" err="1"/>
              <a:t>enera</a:t>
            </a:r>
            <a:r>
              <a:rPr lang="en-US" dirty="0"/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methodology in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339732-48E5-9440-BEC0-5A9D505BD549}"/>
                  </a:ext>
                </a:extLst>
              </p:cNvPr>
              <p:cNvSpPr txBox="1"/>
              <p:nvPr/>
            </p:nvSpPr>
            <p:spPr>
              <a:xfrm>
                <a:off x="6600020" y="2084253"/>
                <a:ext cx="5681748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Transition to a nodal market design or a zone split:</a:t>
                </a:r>
              </a:p>
              <a:p>
                <a:r>
                  <a:rPr lang="en-US" dirty="0"/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infeasible (BMWK, Aug 2024)</a:t>
                </a:r>
              </a:p>
              <a:p>
                <a:endParaRPr lang="en-US" dirty="0"/>
              </a:p>
              <a:p>
                <a:r>
                  <a:rPr lang="en-US" dirty="0"/>
                  <a:t>Alternative solutions: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Local </a:t>
                </a:r>
                <a:r>
                  <a:rPr lang="en-US" b="1" dirty="0"/>
                  <a:t>flexibility</a:t>
                </a:r>
                <a:r>
                  <a:rPr lang="en-US" dirty="0"/>
                  <a:t> markets &amp; energy communities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b="1" dirty="0"/>
                  <a:t>Dynamic network tariffs</a:t>
                </a:r>
              </a:p>
              <a:p>
                <a:pPr lvl="1"/>
                <a:r>
                  <a:rPr lang="en-US" b="0" dirty="0"/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spatially &amp; temporally differentiated</a:t>
                </a:r>
                <a:endParaRPr lang="de-D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339732-48E5-9440-BEC0-5A9D505BD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20" y="2084253"/>
                <a:ext cx="5681748" cy="2031325"/>
              </a:xfrm>
              <a:prstGeom prst="rect">
                <a:avLst/>
              </a:prstGeom>
              <a:blipFill>
                <a:blip r:embed="rId3"/>
                <a:stretch>
                  <a:fillRect l="-966" t="-1502" b="-42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31F8B66D-9C55-4562-CF2D-4599C40CA70D}"/>
              </a:ext>
            </a:extLst>
          </p:cNvPr>
          <p:cNvSpPr/>
          <p:nvPr/>
        </p:nvSpPr>
        <p:spPr>
          <a:xfrm>
            <a:off x="5244353" y="1009746"/>
            <a:ext cx="1210235" cy="5232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079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Redispatch 3.0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Optimization problem</a:t>
            </a:r>
          </a:p>
          <a:p>
            <a:pPr lvl="1"/>
            <a:r>
              <a:rPr lang="en-US" sz="1600" b="1" dirty="0"/>
              <a:t>Objective</a:t>
            </a:r>
            <a:r>
              <a:rPr lang="en-US" sz="1600" dirty="0"/>
              <a:t>: curtailment minimization? redispatch volume/cost minimization? others? </a:t>
            </a:r>
          </a:p>
          <a:p>
            <a:pPr lvl="1"/>
            <a:r>
              <a:rPr lang="en-US" sz="1600" b="1" dirty="0"/>
              <a:t>Initial solution</a:t>
            </a:r>
            <a:r>
              <a:rPr lang="en-US" sz="1600" dirty="0"/>
              <a:t>: output from EUPHEMIA?</a:t>
            </a:r>
          </a:p>
          <a:p>
            <a:pPr lvl="1"/>
            <a:r>
              <a:rPr lang="en-US" sz="1600" b="1" dirty="0"/>
              <a:t>Scale</a:t>
            </a:r>
            <a:r>
              <a:rPr lang="en-US" sz="1600" dirty="0"/>
              <a:t>: national level? TSO control area? smaller area?</a:t>
            </a:r>
          </a:p>
          <a:p>
            <a:pPr lvl="1"/>
            <a:r>
              <a:rPr lang="en-US" sz="1600" b="1" dirty="0"/>
              <a:t>Constraints</a:t>
            </a:r>
            <a:r>
              <a:rPr lang="en-US" sz="1600" dirty="0"/>
              <a:t>: demand &amp; supply side, network?</a:t>
            </a:r>
          </a:p>
          <a:p>
            <a:pPr lvl="1"/>
            <a:r>
              <a:rPr lang="en-US" sz="1600" b="1" dirty="0"/>
              <a:t>Time resolution</a:t>
            </a:r>
            <a:r>
              <a:rPr lang="en-US" sz="1600" dirty="0"/>
              <a:t>: solve whenever a congestion event is forecasted?</a:t>
            </a:r>
            <a:endParaRPr lang="en-US" sz="1600" b="1" dirty="0"/>
          </a:p>
          <a:p>
            <a:pPr lvl="1"/>
            <a:r>
              <a:rPr lang="en-US" sz="1600" b="1" dirty="0"/>
              <a:t>Small flexible units</a:t>
            </a:r>
            <a:r>
              <a:rPr lang="en-US" sz="1600" dirty="0"/>
              <a:t>: integration? </a:t>
            </a:r>
          </a:p>
          <a:p>
            <a:pPr lvl="1"/>
            <a:endParaRPr lang="en-US" sz="2000" dirty="0"/>
          </a:p>
          <a:p>
            <a:r>
              <a:rPr lang="en-US" sz="2000" dirty="0"/>
              <a:t>Reward scheme</a:t>
            </a:r>
          </a:p>
          <a:p>
            <a:pPr lvl="1"/>
            <a:r>
              <a:rPr lang="en-US" sz="1600" dirty="0"/>
              <a:t>Marginal costs – RES costs??</a:t>
            </a:r>
          </a:p>
          <a:p>
            <a:pPr lvl="1"/>
            <a:r>
              <a:rPr lang="en-US" sz="1600" dirty="0"/>
              <a:t>Contracts? </a:t>
            </a:r>
          </a:p>
          <a:p>
            <a:endParaRPr lang="en-US" sz="2000" dirty="0"/>
          </a:p>
          <a:p>
            <a:r>
              <a:rPr lang="en-US" sz="2000" dirty="0"/>
              <a:t>Relationship to (local) flexibility markets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961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flexibility markets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Objectives</a:t>
            </a:r>
          </a:p>
          <a:p>
            <a:r>
              <a:rPr lang="en-US" sz="2000" dirty="0"/>
              <a:t>Participants </a:t>
            </a:r>
          </a:p>
          <a:p>
            <a:r>
              <a:rPr lang="en-US" sz="2000" dirty="0"/>
              <a:t>Flexibility products</a:t>
            </a:r>
          </a:p>
          <a:p>
            <a:r>
              <a:rPr lang="en-US" sz="2000" dirty="0"/>
              <a:t>Time frame</a:t>
            </a:r>
          </a:p>
          <a:p>
            <a:r>
              <a:rPr lang="en-US" sz="2000" dirty="0"/>
              <a:t>Allocation method</a:t>
            </a:r>
          </a:p>
          <a:p>
            <a:pPr lvl="1"/>
            <a:r>
              <a:rPr lang="en-US" sz="1600" dirty="0"/>
              <a:t>Optimization problem?</a:t>
            </a:r>
          </a:p>
          <a:p>
            <a:pPr lvl="1"/>
            <a:r>
              <a:rPr lang="en-US" sz="1600" dirty="0"/>
              <a:t>Auction design?</a:t>
            </a:r>
          </a:p>
          <a:p>
            <a:r>
              <a:rPr lang="en-US" sz="2000" dirty="0"/>
              <a:t>Reward scheme</a:t>
            </a:r>
          </a:p>
          <a:p>
            <a:r>
              <a:rPr lang="en-US" sz="2000" dirty="0"/>
              <a:t>Challenges &amp; Solutions</a:t>
            </a:r>
          </a:p>
          <a:p>
            <a:pPr lvl="1"/>
            <a:r>
              <a:rPr lang="en-US" sz="1600" dirty="0"/>
              <a:t>Regulation </a:t>
            </a:r>
          </a:p>
          <a:p>
            <a:pPr lvl="1"/>
            <a:r>
              <a:rPr lang="en-US" sz="1600" dirty="0"/>
              <a:t>Inc-Dec gaming</a:t>
            </a:r>
          </a:p>
          <a:p>
            <a:pPr lvl="1"/>
            <a:r>
              <a:rPr lang="en-US" sz="1600" dirty="0"/>
              <a:t>Implementation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2D501-F071-DCA3-FD78-A75ECC11AB16}"/>
              </a:ext>
            </a:extLst>
          </p:cNvPr>
          <p:cNvSpPr txBox="1"/>
          <p:nvPr/>
        </p:nvSpPr>
        <p:spPr>
          <a:xfrm>
            <a:off x="5638799" y="2971800"/>
            <a:ext cx="41103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Best design?</a:t>
            </a:r>
            <a:endParaRPr lang="de-DE" sz="4400" dirty="0"/>
          </a:p>
        </p:txBody>
      </p:sp>
    </p:spTree>
    <p:extLst>
      <p:ext uri="{BB962C8B-B14F-4D97-AF65-F5344CB8AC3E}">
        <p14:creationId xmlns:p14="http://schemas.microsoft.com/office/powerpoint/2010/main" val="327262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network tariffs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Current GCD in Germany – low cost-reflectivity</a:t>
            </a:r>
          </a:p>
          <a:p>
            <a:pPr lvl="1"/>
            <a:r>
              <a:rPr lang="en-US" sz="1600" b="1" dirty="0"/>
              <a:t>base charge </a:t>
            </a:r>
            <a:r>
              <a:rPr lang="en-US" sz="1600" dirty="0"/>
              <a:t>(</a:t>
            </a:r>
            <a:r>
              <a:rPr lang="en-US" sz="1600" dirty="0" err="1"/>
              <a:t>indep</a:t>
            </a:r>
            <a:r>
              <a:rPr lang="en-US" sz="1600" dirty="0"/>
              <a:t>. of the amount of energy used, EUR/year) + </a:t>
            </a:r>
          </a:p>
          <a:p>
            <a:pPr lvl="1"/>
            <a:r>
              <a:rPr lang="en-US" sz="1600" b="1" dirty="0"/>
              <a:t>fixed volumetric tariff </a:t>
            </a:r>
            <a:r>
              <a:rPr lang="en-US" sz="1600" dirty="0"/>
              <a:t>(dep. on kWh energy used, EUR </a:t>
            </a:r>
            <a:r>
              <a:rPr lang="en-US" sz="1600" dirty="0" err="1"/>
              <a:t>ct</a:t>
            </a:r>
            <a:r>
              <a:rPr lang="en-US" sz="1600" dirty="0"/>
              <a:t> / kWh)</a:t>
            </a:r>
          </a:p>
          <a:p>
            <a:r>
              <a:rPr lang="en-US" sz="2000" b="1" dirty="0"/>
              <a:t>Volumetric tariff </a:t>
            </a:r>
            <a:r>
              <a:rPr lang="en-US" sz="2000" dirty="0"/>
              <a:t> - options:</a:t>
            </a:r>
          </a:p>
          <a:p>
            <a:pPr lvl="1"/>
            <a:r>
              <a:rPr lang="en-US" sz="1600" dirty="0"/>
              <a:t>Fixed price for a predefined amount of energy (flat)</a:t>
            </a:r>
          </a:p>
          <a:p>
            <a:pPr lvl="1"/>
            <a:r>
              <a:rPr lang="en-US" sz="1600" dirty="0"/>
              <a:t>Fixed price per unit of energy (fixed)</a:t>
            </a:r>
          </a:p>
          <a:p>
            <a:pPr lvl="1"/>
            <a:r>
              <a:rPr lang="en-US" sz="1600" dirty="0"/>
              <a:t>Price per amount of energy that dep. on </a:t>
            </a:r>
            <a:r>
              <a:rPr lang="en-US" sz="1600" dirty="0" err="1"/>
              <a:t>ToU</a:t>
            </a:r>
            <a:endParaRPr lang="en-US" sz="1600" dirty="0"/>
          </a:p>
          <a:p>
            <a:pPr lvl="1"/>
            <a:r>
              <a:rPr lang="en-US" sz="1600" dirty="0"/>
              <a:t>Even-driven price (e.g., Critical Peak Pricing: higher prices in times of load peaks/grid congestion)</a:t>
            </a:r>
          </a:p>
          <a:p>
            <a:pPr lvl="1"/>
            <a:r>
              <a:rPr lang="en-US" sz="1600" dirty="0"/>
              <a:t>Dynamic price</a:t>
            </a:r>
            <a:endParaRPr lang="en-US" sz="2000" dirty="0"/>
          </a:p>
          <a:p>
            <a:r>
              <a:rPr lang="en-US" sz="2000" b="1" dirty="0"/>
              <a:t>Capacity-based tariff </a:t>
            </a:r>
            <a:r>
              <a:rPr lang="en-US" sz="2000" dirty="0"/>
              <a:t>(EUR/kW) - options:</a:t>
            </a:r>
          </a:p>
          <a:p>
            <a:pPr lvl="1"/>
            <a:r>
              <a:rPr lang="en-US" sz="1600" dirty="0"/>
              <a:t>Fixed price for a fixed capacity (flat)</a:t>
            </a:r>
          </a:p>
          <a:p>
            <a:pPr lvl="1"/>
            <a:r>
              <a:rPr lang="en-US" sz="1600" dirty="0"/>
              <a:t>Different price levels for different capacity levels (variable)</a:t>
            </a:r>
          </a:p>
          <a:p>
            <a:pPr lvl="1"/>
            <a:r>
              <a:rPr lang="en-US" sz="1600" dirty="0"/>
              <a:t>Price that dep. on </a:t>
            </a:r>
            <a:r>
              <a:rPr lang="en-US" sz="1600" dirty="0" err="1"/>
              <a:t>ToU</a:t>
            </a:r>
            <a:endParaRPr lang="en-US" sz="16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Europe: shift towards capacity-based tariffs</a:t>
            </a:r>
          </a:p>
        </p:txBody>
      </p:sp>
    </p:spTree>
    <p:extLst>
      <p:ext uri="{BB962C8B-B14F-4D97-AF65-F5344CB8AC3E}">
        <p14:creationId xmlns:p14="http://schemas.microsoft.com/office/powerpoint/2010/main" val="2434443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C18D-EE52-9D36-7D75-53BA57FB9E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678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A95B5-3409-43B0-D883-26A6C8E1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CM: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9A55B-DDE9-D819-2C6F-9455F6D5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Congestion event (CE)</a:t>
            </a:r>
          </a:p>
          <a:p>
            <a:pPr lvl="1"/>
            <a:r>
              <a:rPr lang="en-US" sz="1400" dirty="0"/>
              <a:t>Definition: What information is available? </a:t>
            </a:r>
          </a:p>
          <a:p>
            <a:pPr lvl="1"/>
            <a:r>
              <a:rPr lang="en-US" sz="1400" dirty="0"/>
              <a:t>Prediction: Based on what data? Output from EUPHEMIA?</a:t>
            </a:r>
          </a:p>
          <a:p>
            <a:pPr lvl="1"/>
            <a:r>
              <a:rPr lang="en-US" sz="1400" dirty="0"/>
              <a:t>Action time: available time to decide on a congestion management (CM) strategy? Any options or fixed procedure?</a:t>
            </a:r>
          </a:p>
          <a:p>
            <a:r>
              <a:rPr lang="en-US" sz="1800" dirty="0"/>
              <a:t>Current CM strategy</a:t>
            </a:r>
          </a:p>
          <a:p>
            <a:pPr lvl="1"/>
            <a:r>
              <a:rPr lang="en-US" sz="1400" dirty="0"/>
              <a:t>Cost-based redispatch – concrete definition? Input/initial solution? Time granularity? Fixed optimization problem or dynamic formulation? </a:t>
            </a:r>
          </a:p>
          <a:p>
            <a:pPr lvl="1"/>
            <a:r>
              <a:rPr lang="en-US" sz="1400" dirty="0"/>
              <a:t>What generators can change their “position” (profile, location in the grid, ”distance” to CE)? Fixed set? Agreement with TSO? Any priority or just cost-based optimization?</a:t>
            </a:r>
          </a:p>
          <a:p>
            <a:pPr lvl="1"/>
            <a:r>
              <a:rPr lang="en-US" sz="1400" dirty="0"/>
              <a:t>Demand redispatch? </a:t>
            </a:r>
          </a:p>
          <a:p>
            <a:pPr lvl="1"/>
            <a:r>
              <a:rPr lang="en-US" sz="1400" dirty="0"/>
              <a:t>Reward scheme: Marginal costs? Other?</a:t>
            </a:r>
          </a:p>
          <a:p>
            <a:r>
              <a:rPr lang="en-US" sz="1800" dirty="0"/>
              <a:t>TSO Coordination </a:t>
            </a:r>
          </a:p>
          <a:p>
            <a:pPr lvl="1"/>
            <a:r>
              <a:rPr lang="en-US" sz="1400" dirty="0"/>
              <a:t>Optimization over the whole market area? TSO control area? Smaller area?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6911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flexibility markets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Objectives</a:t>
            </a:r>
          </a:p>
          <a:p>
            <a:r>
              <a:rPr lang="en-US" sz="2000" dirty="0"/>
              <a:t>Participants </a:t>
            </a:r>
          </a:p>
          <a:p>
            <a:r>
              <a:rPr lang="en-US" sz="2000" dirty="0"/>
              <a:t>Flexibility products</a:t>
            </a:r>
          </a:p>
          <a:p>
            <a:r>
              <a:rPr lang="en-US" sz="2000" dirty="0"/>
              <a:t>Time frame</a:t>
            </a:r>
          </a:p>
          <a:p>
            <a:r>
              <a:rPr lang="en-US" sz="2000" dirty="0"/>
              <a:t>Allocation method</a:t>
            </a:r>
          </a:p>
          <a:p>
            <a:pPr lvl="1"/>
            <a:r>
              <a:rPr lang="en-US" sz="1600" dirty="0"/>
              <a:t>Optimization problem?</a:t>
            </a:r>
          </a:p>
          <a:p>
            <a:pPr lvl="1"/>
            <a:r>
              <a:rPr lang="en-US" sz="1600" dirty="0"/>
              <a:t>Auction design?</a:t>
            </a:r>
          </a:p>
          <a:p>
            <a:r>
              <a:rPr lang="en-US" sz="2000" dirty="0"/>
              <a:t>Reward scheme</a:t>
            </a:r>
          </a:p>
          <a:p>
            <a:r>
              <a:rPr lang="en-US" sz="2000" dirty="0"/>
              <a:t>Challenges &amp; Solutions</a:t>
            </a:r>
          </a:p>
          <a:p>
            <a:pPr lvl="1"/>
            <a:r>
              <a:rPr lang="en-US" sz="1600" dirty="0"/>
              <a:t>Regulation </a:t>
            </a:r>
          </a:p>
          <a:p>
            <a:pPr lvl="1"/>
            <a:r>
              <a:rPr lang="en-US" sz="1600" dirty="0"/>
              <a:t>Inc-Dec gaming</a:t>
            </a:r>
          </a:p>
          <a:p>
            <a:pPr lvl="1"/>
            <a:r>
              <a:rPr lang="en-US" sz="1600" dirty="0"/>
              <a:t>Implementation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F92CA-461B-E548-4AC5-0AB0D1A6B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109" y="1825625"/>
            <a:ext cx="5728187" cy="203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24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flexibility markets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Objectives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Participants</a:t>
            </a:r>
            <a:r>
              <a:rPr lang="en-US" sz="2000" dirty="0"/>
              <a:t> </a:t>
            </a:r>
          </a:p>
          <a:p>
            <a:r>
              <a:rPr lang="en-US" sz="2000" dirty="0"/>
              <a:t>Flexibility products</a:t>
            </a:r>
          </a:p>
          <a:p>
            <a:r>
              <a:rPr lang="en-US" sz="2000" dirty="0"/>
              <a:t>Time frame</a:t>
            </a:r>
          </a:p>
          <a:p>
            <a:r>
              <a:rPr lang="en-US" sz="2000" dirty="0"/>
              <a:t>Allocation method</a:t>
            </a:r>
          </a:p>
          <a:p>
            <a:pPr lvl="1"/>
            <a:r>
              <a:rPr lang="en-US" sz="1600" dirty="0"/>
              <a:t>Optimization problem?</a:t>
            </a:r>
          </a:p>
          <a:p>
            <a:pPr lvl="1"/>
            <a:r>
              <a:rPr lang="en-US" sz="1600" dirty="0"/>
              <a:t>Auction design?</a:t>
            </a:r>
          </a:p>
          <a:p>
            <a:r>
              <a:rPr lang="en-US" sz="2000" dirty="0"/>
              <a:t>Reward scheme</a:t>
            </a:r>
          </a:p>
          <a:p>
            <a:r>
              <a:rPr lang="en-US" sz="2000" dirty="0"/>
              <a:t>Challenges &amp; Solutions</a:t>
            </a:r>
          </a:p>
          <a:p>
            <a:pPr lvl="1"/>
            <a:r>
              <a:rPr lang="en-US" sz="1600" dirty="0"/>
              <a:t>Regulation </a:t>
            </a:r>
          </a:p>
          <a:p>
            <a:pPr lvl="1"/>
            <a:r>
              <a:rPr lang="en-US" sz="1600" dirty="0"/>
              <a:t>Inc-Dec gaming</a:t>
            </a:r>
          </a:p>
          <a:p>
            <a:pPr lvl="1"/>
            <a:r>
              <a:rPr lang="en-US" sz="1600" dirty="0"/>
              <a:t>Implementation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1B2C9-1B67-7F91-8E7A-731D348A7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281" y="2157958"/>
            <a:ext cx="4488690" cy="93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31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flexibility markets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Objectives</a:t>
            </a:r>
          </a:p>
          <a:p>
            <a:r>
              <a:rPr lang="en-US" sz="2000" dirty="0"/>
              <a:t>Participants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Flexibility products</a:t>
            </a:r>
          </a:p>
          <a:p>
            <a:r>
              <a:rPr lang="en-US" sz="2000" dirty="0"/>
              <a:t>Time frame</a:t>
            </a:r>
          </a:p>
          <a:p>
            <a:r>
              <a:rPr lang="en-US" sz="2000" dirty="0"/>
              <a:t>Allocation method</a:t>
            </a:r>
          </a:p>
          <a:p>
            <a:pPr lvl="1"/>
            <a:r>
              <a:rPr lang="en-US" sz="1600" dirty="0"/>
              <a:t>Optimization problem?</a:t>
            </a:r>
          </a:p>
          <a:p>
            <a:pPr lvl="1"/>
            <a:r>
              <a:rPr lang="en-US" sz="1600" dirty="0"/>
              <a:t>Auction design?</a:t>
            </a:r>
          </a:p>
          <a:p>
            <a:r>
              <a:rPr lang="en-US" sz="2000" dirty="0"/>
              <a:t>Reward scheme</a:t>
            </a:r>
          </a:p>
          <a:p>
            <a:r>
              <a:rPr lang="en-US" sz="2000" dirty="0"/>
              <a:t>Challenges &amp; Solutions</a:t>
            </a:r>
          </a:p>
          <a:p>
            <a:pPr lvl="1"/>
            <a:r>
              <a:rPr lang="en-US" sz="1600" dirty="0"/>
              <a:t>Regulation </a:t>
            </a:r>
          </a:p>
          <a:p>
            <a:pPr lvl="1"/>
            <a:r>
              <a:rPr lang="en-US" sz="1600" dirty="0"/>
              <a:t>Inc-Dec gaming</a:t>
            </a:r>
          </a:p>
          <a:p>
            <a:pPr lvl="1"/>
            <a:r>
              <a:rPr lang="en-US" sz="1600" dirty="0"/>
              <a:t>Implementation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73D803-5C0D-A32C-B2C9-85197295B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713" y="2417094"/>
            <a:ext cx="2010801" cy="120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1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flexibility markets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Objectives</a:t>
            </a:r>
          </a:p>
          <a:p>
            <a:r>
              <a:rPr lang="en-US" sz="2000" dirty="0"/>
              <a:t>Participants </a:t>
            </a:r>
          </a:p>
          <a:p>
            <a:r>
              <a:rPr lang="en-US" sz="2000" dirty="0"/>
              <a:t>Flexibility products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Time frame</a:t>
            </a:r>
          </a:p>
          <a:p>
            <a:r>
              <a:rPr lang="en-US" sz="2000" dirty="0"/>
              <a:t>Allocation method</a:t>
            </a:r>
          </a:p>
          <a:p>
            <a:pPr lvl="1"/>
            <a:r>
              <a:rPr lang="en-US" sz="1600" dirty="0"/>
              <a:t>Optimization problem?</a:t>
            </a:r>
          </a:p>
          <a:p>
            <a:pPr lvl="1"/>
            <a:r>
              <a:rPr lang="en-US" sz="1600" dirty="0"/>
              <a:t>Auction design?</a:t>
            </a:r>
          </a:p>
          <a:p>
            <a:r>
              <a:rPr lang="en-US" sz="2000" dirty="0"/>
              <a:t>Reward scheme</a:t>
            </a:r>
          </a:p>
          <a:p>
            <a:r>
              <a:rPr lang="en-US" sz="2000" dirty="0"/>
              <a:t>Challenges &amp; Solutions</a:t>
            </a:r>
          </a:p>
          <a:p>
            <a:pPr lvl="1"/>
            <a:r>
              <a:rPr lang="en-US" sz="1600" dirty="0"/>
              <a:t>Regulation </a:t>
            </a:r>
          </a:p>
          <a:p>
            <a:pPr lvl="1"/>
            <a:r>
              <a:rPr lang="en-US" sz="1600" dirty="0"/>
              <a:t>Inc-Dec gaming</a:t>
            </a:r>
          </a:p>
          <a:p>
            <a:pPr lvl="1"/>
            <a:r>
              <a:rPr lang="en-US" sz="1600" dirty="0"/>
              <a:t>Implementation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F64D3-CD91-BE97-B193-5393671F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539" y="3050488"/>
            <a:ext cx="4913204" cy="191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2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flexibility markets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Objectives</a:t>
            </a:r>
          </a:p>
          <a:p>
            <a:r>
              <a:rPr lang="en-US" sz="2000" dirty="0"/>
              <a:t>Participants </a:t>
            </a:r>
          </a:p>
          <a:p>
            <a:r>
              <a:rPr lang="en-US" sz="2000" dirty="0"/>
              <a:t>Flexibility products</a:t>
            </a:r>
          </a:p>
          <a:p>
            <a:r>
              <a:rPr lang="en-US" sz="2000" dirty="0"/>
              <a:t>Time frame</a:t>
            </a:r>
          </a:p>
          <a:p>
            <a:r>
              <a:rPr lang="en-US" sz="2000" dirty="0">
                <a:solidFill>
                  <a:srgbClr val="FF0000"/>
                </a:solidFill>
              </a:rPr>
              <a:t>Allocation method</a:t>
            </a:r>
          </a:p>
          <a:p>
            <a:pPr lvl="1"/>
            <a:r>
              <a:rPr lang="en-US" sz="1600" dirty="0"/>
              <a:t>Optimization problem?</a:t>
            </a:r>
          </a:p>
          <a:p>
            <a:pPr lvl="1"/>
            <a:r>
              <a:rPr lang="en-US" sz="1600" dirty="0"/>
              <a:t>Auction design?</a:t>
            </a:r>
          </a:p>
          <a:p>
            <a:r>
              <a:rPr lang="en-US" sz="2000" dirty="0"/>
              <a:t>Reward scheme</a:t>
            </a:r>
          </a:p>
          <a:p>
            <a:r>
              <a:rPr lang="en-US" sz="2000" dirty="0"/>
              <a:t>Challenges &amp; Solutions</a:t>
            </a:r>
          </a:p>
          <a:p>
            <a:pPr lvl="1"/>
            <a:r>
              <a:rPr lang="en-US" sz="1600" dirty="0"/>
              <a:t>Regulation </a:t>
            </a:r>
          </a:p>
          <a:p>
            <a:pPr lvl="1"/>
            <a:r>
              <a:rPr lang="en-US" sz="1600" dirty="0"/>
              <a:t>Inc-Dec gaming</a:t>
            </a:r>
          </a:p>
          <a:p>
            <a:pPr lvl="1"/>
            <a:r>
              <a:rPr lang="en-US" sz="1600" dirty="0"/>
              <a:t>Implementation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CA6D0-8633-1433-7F52-2219C788B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644" y="2518996"/>
            <a:ext cx="4391251" cy="335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66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flexibility markets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Objectives</a:t>
            </a:r>
          </a:p>
          <a:p>
            <a:r>
              <a:rPr lang="en-US" sz="2000" dirty="0"/>
              <a:t>Participants </a:t>
            </a:r>
          </a:p>
          <a:p>
            <a:r>
              <a:rPr lang="en-US" sz="2000" dirty="0"/>
              <a:t>Flexibility products</a:t>
            </a:r>
          </a:p>
          <a:p>
            <a:r>
              <a:rPr lang="en-US" sz="2000" dirty="0"/>
              <a:t>Time frame</a:t>
            </a:r>
          </a:p>
          <a:p>
            <a:r>
              <a:rPr lang="en-US" sz="2000" dirty="0"/>
              <a:t>Allocation method</a:t>
            </a:r>
          </a:p>
          <a:p>
            <a:pPr lvl="1"/>
            <a:r>
              <a:rPr lang="en-US" sz="1600" dirty="0"/>
              <a:t>Optimization problem?</a:t>
            </a:r>
          </a:p>
          <a:p>
            <a:pPr lvl="1"/>
            <a:r>
              <a:rPr lang="en-US" sz="1600" dirty="0"/>
              <a:t>Auction design?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Reward scheme</a:t>
            </a:r>
          </a:p>
          <a:p>
            <a:r>
              <a:rPr lang="en-US" sz="2000" dirty="0"/>
              <a:t>Challenges &amp; Solutions</a:t>
            </a:r>
          </a:p>
          <a:p>
            <a:pPr lvl="1"/>
            <a:r>
              <a:rPr lang="en-US" sz="1600" dirty="0"/>
              <a:t>Regulation </a:t>
            </a:r>
          </a:p>
          <a:p>
            <a:pPr lvl="1"/>
            <a:r>
              <a:rPr lang="en-US" sz="1600" dirty="0"/>
              <a:t>Inc-Dec gaming</a:t>
            </a:r>
          </a:p>
          <a:p>
            <a:pPr lvl="1"/>
            <a:r>
              <a:rPr lang="en-US" sz="1600" dirty="0"/>
              <a:t>Implementation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A0D84-B554-F19F-1551-ECFA02967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098" y="4318407"/>
            <a:ext cx="5760404" cy="77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5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Widescreen</PresentationFormat>
  <Paragraphs>169</Paragraphs>
  <Slides>16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APEM Monthly Meeting</vt:lpstr>
      <vt:lpstr>Agenda</vt:lpstr>
      <vt:lpstr>Timeline</vt:lpstr>
      <vt:lpstr>Project updates</vt:lpstr>
      <vt:lpstr>PowerPoint Presentation</vt:lpstr>
      <vt:lpstr>Redispatch 3.0</vt:lpstr>
      <vt:lpstr>Local flexibility markets</vt:lpstr>
      <vt:lpstr>Dynamic network tariffs</vt:lpstr>
      <vt:lpstr>Backup slides</vt:lpstr>
      <vt:lpstr>CM: Questions</vt:lpstr>
      <vt:lpstr>Local flexibility markets</vt:lpstr>
      <vt:lpstr>Local flexibility markets</vt:lpstr>
      <vt:lpstr>Local flexibility markets</vt:lpstr>
      <vt:lpstr>Local flexibility markets</vt:lpstr>
      <vt:lpstr>Local flexibility markets</vt:lpstr>
      <vt:lpstr>Local flexibility markets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Dobos</dc:creator>
  <cp:lastModifiedBy>Teodora Dobos</cp:lastModifiedBy>
  <cp:revision>12</cp:revision>
  <dcterms:created xsi:type="dcterms:W3CDTF">2024-07-10T11:40:56Z</dcterms:created>
  <dcterms:modified xsi:type="dcterms:W3CDTF">2024-09-12T13:12:18Z</dcterms:modified>
</cp:coreProperties>
</file>