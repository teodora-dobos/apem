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7" r:id="rId5"/>
    <p:sldId id="270" r:id="rId6"/>
    <p:sldId id="271" r:id="rId7"/>
    <p:sldId id="273" r:id="rId8"/>
    <p:sldId id="277" r:id="rId9"/>
    <p:sldId id="280" r:id="rId10"/>
    <p:sldId id="278" r:id="rId11"/>
    <p:sldId id="279" r:id="rId12"/>
    <p:sldId id="275" r:id="rId13"/>
    <p:sldId id="276" r:id="rId14"/>
    <p:sldId id="26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15" autoAdjust="0"/>
    <p:restoredTop sz="94641"/>
  </p:normalViewPr>
  <p:slideViewPr>
    <p:cSldViewPr snapToGrid="0">
      <p:cViewPr varScale="1">
        <p:scale>
          <a:sx n="150" d="100"/>
          <a:sy n="150" d="100"/>
        </p:scale>
        <p:origin x="39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6A55-FDD1-4A47-9405-DE6FCD12CECA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82646-0BDB-4950-B19F-434DF7E215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82646-0BDB-4950-B19F-434DF7E215C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21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82646-0BDB-4950-B19F-434DF7E215C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76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BDF7-1B74-96B2-7E0B-8CBF4911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7E541-F589-298B-DD4C-5BAA7E0B4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63BBE-5BCE-E76E-D83E-BC80A0BEA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1A01E-A92A-6D88-ED57-8B8E6229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82646-0BDB-4950-B19F-434DF7E215C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406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82646-0BDB-4950-B19F-434DF7E215C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2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46A-F4DF-5BAA-6A9B-BBB4DC4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56B-2297-D619-7EEE-BEFEA3A9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9E81-4D5C-5366-8BFB-2D48CD9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E030-CE3E-76A1-CC06-09BEF3B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87CF-F90F-C254-585F-43E0ADEC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3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6EEC-B41D-91A5-4E7F-1C1AC246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D5C-03D1-879E-5A9B-5AAF82FA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B8BB2-C175-EF4D-4B5A-FB6B4655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B46-81F7-5553-88E6-C5A2C9CD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A37C5-6897-52EE-7AE4-4EB6F2B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6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337F-2828-3289-BFD5-F0014A45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E2E7B-3B4B-8BD2-FEBE-A00731A8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4938-9DCA-1EC4-4FC5-AE4AE1CF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B615-F139-D6AF-522F-C3E7444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B0BB-5EFE-1C05-D7ED-99BEAB7E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00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4D06-5181-4A2E-0D7A-19FB09DD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FC15-05FE-C34F-4B3E-55AE11212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2274C-02B3-87FC-9692-15E36DE7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049F-8FB4-DE2C-099D-A7AE77C5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CFC-F885-790B-5AD2-CFE9D6B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2419D-B11E-34C9-5671-1C8EF11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36A-5685-B814-379D-F7CC1B4F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663B-B77C-6F62-9FA2-09FA34BC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61F3-BDA9-00C3-64BE-4502CAA1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89FBB-35C7-45F2-CFF7-AEACAEB68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D27E-6F41-78A0-19BF-85519811D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C547D-9CAD-F1CD-84CA-55FD7202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D839-8556-9436-6BB7-D52B166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68E7E-5F15-2487-BED7-814A201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475B-F630-48DA-A353-38E2996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DFC-9E2C-6842-D962-92707A5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EA79-5799-E45C-C7FC-9C5BED2A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1C11-56B9-31DA-A4F1-7D2C0996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ACCB1-BE37-838C-73DF-F6EA36D1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91A5-6712-41B2-7223-44A86A4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A41A-4F02-8830-667F-11BEE46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037-70AC-7A4E-F311-8A7A7B7C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B116-0506-2374-AB35-E814C5E4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BA03-E121-96E3-6909-43CDDCA5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8816-4427-BB21-78C4-D253CC92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4555-7ED7-7054-2E90-B7CC6BF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277B-8BD4-D01B-F5FB-5EC3A4F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52-ADB7-FBE4-4892-6EF4DF4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1805E-5304-CDF0-FEE6-A4018F8D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4F58-D547-1E66-C837-86DC70C1C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B2AAB-1F52-808B-2DA9-8F7C506A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896E-DD09-EC2B-EF51-399BA8C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CEC6-7532-B073-55FD-5F6247D0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1EA-B41C-DDC7-E787-40BC502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30AC-CFE6-8B79-C4E1-1596FBAB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53A5-BE7B-7362-95AB-51D7A61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DA35-1DFF-CA98-8DB7-D5823DCB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DF74-C8F5-9BEA-0705-2166A08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5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45AB6-EC7E-2AD3-D334-95A4AF31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9EAB-7058-14B7-DFB1-10E15609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7EC3-94B9-1331-4CE3-31CC0C4D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1A5-4C6B-939F-4CE7-B6F8FC5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270C-3E77-B2F7-7C19-26D5FA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9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4C5FF-1521-6185-2CF9-388D989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19C8-2C9D-08C3-D79D-A30F8CE1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A8FF-6501-ED55-DF78-C46294BE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B93-A96A-4931-8331-FEABEEA4E03F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E354-944C-7F86-CE8A-44062285A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E846-5381-324A-EE25-B955A5C5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3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29.11.2024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 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101788"/>
            <a:ext cx="10372165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8698753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8147833" y="1879611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A5398-4C73-DE6E-3E8F-20FCDC63F6A0}"/>
              </a:ext>
            </a:extLst>
          </p:cNvPr>
          <p:cNvSpPr/>
          <p:nvPr/>
        </p:nvSpPr>
        <p:spPr>
          <a:xfrm>
            <a:off x="905434" y="3870626"/>
            <a:ext cx="10372165" cy="163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836B-15D1-ABF6-8791-25004FF6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 - EUPHEMIA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7871-8FE2-0EB6-DD0A-56F725DB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Initial implementation</a:t>
            </a:r>
          </a:p>
          <a:p>
            <a:endParaRPr lang="en-US" sz="2000" dirty="0"/>
          </a:p>
          <a:p>
            <a:r>
              <a:rPr lang="en-US" sz="2000" dirty="0"/>
              <a:t>Data generation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8E1D20-2798-5996-ABC7-1EC188651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1155"/>
            <a:ext cx="5645834" cy="4140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C3F15E-91DA-AD40-7A89-A773E92A13B9}"/>
              </a:ext>
            </a:extLst>
          </p:cNvPr>
          <p:cNvSpPr/>
          <p:nvPr/>
        </p:nvSpPr>
        <p:spPr>
          <a:xfrm>
            <a:off x="6096000" y="5263376"/>
            <a:ext cx="5645834" cy="30108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351A3-E49D-ABA8-FCA9-A363C689CC13}"/>
              </a:ext>
            </a:extLst>
          </p:cNvPr>
          <p:cNvSpPr txBox="1"/>
          <p:nvPr/>
        </p:nvSpPr>
        <p:spPr>
          <a:xfrm>
            <a:off x="3648173" y="4678340"/>
            <a:ext cx="2100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Implementation details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E2623FFA-600F-43DD-B1D2-A5652E962C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26672" y="4472870"/>
            <a:ext cx="427801" cy="13977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49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A0B9-D128-06F9-08A4-410A934A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BBB3-2E55-1966-D9FB-898D2BD7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3ABB-870D-2EF2-4D09-E8645D9E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47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Aggregated periodic orders</a:t>
            </a:r>
            <a:endParaRPr lang="en-US" sz="1600" dirty="0"/>
          </a:p>
          <a:p>
            <a:pPr lvl="1"/>
            <a:r>
              <a:rPr lang="en-US" sz="1600" dirty="0"/>
              <a:t>Stepwise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Linear piecewise (interpolated)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Hybrid</a:t>
            </a:r>
            <a:r>
              <a:rPr lang="en-US" sz="1600" dirty="0"/>
              <a:t>  </a:t>
            </a:r>
          </a:p>
          <a:p>
            <a:r>
              <a:rPr lang="en-US" sz="2000" dirty="0"/>
              <a:t>Complex orders</a:t>
            </a:r>
          </a:p>
          <a:p>
            <a:pPr lvl="1"/>
            <a:r>
              <a:rPr lang="en-US" sz="1600" dirty="0"/>
              <a:t>MIC / MP condition</a:t>
            </a:r>
          </a:p>
          <a:p>
            <a:pPr lvl="1"/>
            <a:r>
              <a:rPr lang="en-US" sz="1600" dirty="0"/>
              <a:t>Load gradient condition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Combination of MIC / MP &amp; load gradient conditions</a:t>
            </a:r>
          </a:p>
          <a:p>
            <a:r>
              <a:rPr lang="en-US" sz="2000" dirty="0"/>
              <a:t>Scalable complex orders</a:t>
            </a:r>
          </a:p>
          <a:p>
            <a:r>
              <a:rPr lang="en-US" sz="2000" dirty="0"/>
              <a:t>Block orders</a:t>
            </a:r>
          </a:p>
          <a:p>
            <a:pPr lvl="1"/>
            <a:r>
              <a:rPr lang="en-US" sz="1700" dirty="0"/>
              <a:t>Linked</a:t>
            </a:r>
          </a:p>
          <a:p>
            <a:pPr lvl="1"/>
            <a:r>
              <a:rPr lang="en-US" sz="1700" dirty="0"/>
              <a:t>Exclusive groups</a:t>
            </a:r>
          </a:p>
          <a:p>
            <a:pPr lvl="1"/>
            <a:r>
              <a:rPr lang="en-US" sz="1700" dirty="0"/>
              <a:t>Flexible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Merit orders and PUN orders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3FE2D-C072-2223-D25E-02D685C4D80B}"/>
              </a:ext>
            </a:extLst>
          </p:cNvPr>
          <p:cNvSpPr txBox="1"/>
          <p:nvPr/>
        </p:nvSpPr>
        <p:spPr>
          <a:xfrm>
            <a:off x="6400800" y="2141035"/>
            <a:ext cx="55418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implemented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0000"/>
                </a:solidFill>
              </a:rPr>
              <a:t>MTUs of 15’ and 30’ (only 60’)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0000"/>
                </a:solidFill>
              </a:rPr>
              <a:t>Scheduled stop in (scalable) complex orders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0000"/>
                </a:solidFill>
              </a:rPr>
              <a:t>Order tie breaking rules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0000"/>
                </a:solidFill>
              </a:rPr>
              <a:t>Rules 2-4  for the acceptance of linked block orders</a:t>
            </a:r>
          </a:p>
        </p:txBody>
      </p:sp>
    </p:spTree>
    <p:extLst>
      <p:ext uri="{BB962C8B-B14F-4D97-AF65-F5344CB8AC3E}">
        <p14:creationId xmlns:p14="http://schemas.microsoft.com/office/powerpoint/2010/main" val="1208549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95615B-5C42-38A9-1B98-7E6661AF2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</p:spTree>
    <p:extLst>
      <p:ext uri="{BB962C8B-B14F-4D97-AF65-F5344CB8AC3E}">
        <p14:creationId xmlns:p14="http://schemas.microsoft.com/office/powerpoint/2010/main" val="376623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62F23-8263-8591-5828-C8ABD6C8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C7809-4598-251A-4B02-1C7A816C7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4EDB85-0EE4-3241-A44F-8B35FD228873}"/>
              </a:ext>
            </a:extLst>
          </p:cNvPr>
          <p:cNvSpPr/>
          <p:nvPr/>
        </p:nvSpPr>
        <p:spPr>
          <a:xfrm>
            <a:off x="1178350" y="2073897"/>
            <a:ext cx="1706252" cy="20739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837363-4CED-FBC9-2486-30029F95379D}"/>
                  </a:ext>
                </a:extLst>
              </p:cNvPr>
              <p:cNvSpPr txBox="1"/>
              <p:nvPr/>
            </p:nvSpPr>
            <p:spPr>
              <a:xfrm>
                <a:off x="7401134" y="1983500"/>
                <a:ext cx="4731552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solidFill>
                      <a:srgbClr val="0070C0"/>
                    </a:solidFill>
                  </a:rPr>
                  <a:t>Objective: </a:t>
                </a:r>
                <a:r>
                  <a:rPr lang="en-US" dirty="0"/>
                  <a:t>economic surplus maximization</a:t>
                </a:r>
              </a:p>
              <a:p>
                <a:endParaRPr lang="en-US" dirty="0"/>
              </a:p>
              <a:p>
                <a:r>
                  <a:rPr lang="en-US" i="1" dirty="0">
                    <a:solidFill>
                      <a:srgbClr val="0070C0"/>
                    </a:solidFill>
                  </a:rPr>
                  <a:t>Constraints</a:t>
                </a:r>
                <a:r>
                  <a:rPr lang="en-US" dirty="0">
                    <a:solidFill>
                      <a:srgbClr val="0070C0"/>
                    </a:solidFill>
                  </a:rPr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Supply-demand balance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Block order acceptance rules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(Scalable) complex order acceptance rules</a:t>
                </a:r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Mixed-integer linear program</a:t>
                </a:r>
              </a:p>
              <a:p>
                <a:endParaRPr lang="en-US" dirty="0"/>
              </a:p>
              <a:p>
                <a:r>
                  <a:rPr lang="en-US" dirty="0"/>
                  <a:t>Doc: quadratic program </a:t>
                </a:r>
              </a:p>
              <a:p>
                <a:r>
                  <a:rPr lang="en-US" dirty="0"/>
                  <a:t>(due to the interpolated orders)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837363-4CED-FBC9-2486-30029F953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134" y="1983500"/>
                <a:ext cx="4731552" cy="3416320"/>
              </a:xfrm>
              <a:prstGeom prst="rect">
                <a:avLst/>
              </a:prstGeom>
              <a:blipFill>
                <a:blip r:embed="rId4"/>
                <a:stretch>
                  <a:fillRect l="-1070" t="-741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41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9853-122A-AA61-B8C9-BD21E2C6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779DE2-383A-FAFF-97FC-41667ED50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064FBD-AF26-A72F-3B18-A3BF2DCD8D73}"/>
              </a:ext>
            </a:extLst>
          </p:cNvPr>
          <p:cNvSpPr/>
          <p:nvPr/>
        </p:nvSpPr>
        <p:spPr>
          <a:xfrm>
            <a:off x="1178350" y="2271862"/>
            <a:ext cx="3648174" cy="23566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9101E-F987-A749-4382-FECA26A59B4F}"/>
              </a:ext>
            </a:extLst>
          </p:cNvPr>
          <p:cNvSpPr txBox="1"/>
          <p:nvPr/>
        </p:nvSpPr>
        <p:spPr>
          <a:xfrm>
            <a:off x="7797060" y="1992926"/>
            <a:ext cx="41050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prices for the current master solution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No upper bounds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Doc:</a:t>
            </a:r>
          </a:p>
        </p:txBody>
      </p:sp>
    </p:spTree>
    <p:extLst>
      <p:ext uri="{BB962C8B-B14F-4D97-AF65-F5344CB8AC3E}">
        <p14:creationId xmlns:p14="http://schemas.microsoft.com/office/powerpoint/2010/main" val="14970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331C-45A2-1308-A65A-E31C6F4D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F74D1-A627-CCCE-4983-2EF9150F8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40C030-0A3F-874D-3680-276D4791E6CF}"/>
              </a:ext>
            </a:extLst>
          </p:cNvPr>
          <p:cNvSpPr/>
          <p:nvPr/>
        </p:nvSpPr>
        <p:spPr>
          <a:xfrm>
            <a:off x="1178350" y="2271862"/>
            <a:ext cx="3648174" cy="23566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C5AED-1FA1-ACAB-B9B7-270908E2BB8D}"/>
              </a:ext>
            </a:extLst>
          </p:cNvPr>
          <p:cNvSpPr txBox="1"/>
          <p:nvPr/>
        </p:nvSpPr>
        <p:spPr>
          <a:xfrm>
            <a:off x="7797060" y="1992926"/>
            <a:ext cx="41050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prices for the current master solution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No upper bounds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Doc: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66AF3-4B29-C6F4-E348-FEF049EF6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060" y="3758671"/>
            <a:ext cx="3943716" cy="23990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C30B1B-C10B-CA92-3BD1-25D83DBC6958}"/>
              </a:ext>
            </a:extLst>
          </p:cNvPr>
          <p:cNvSpPr/>
          <p:nvPr/>
        </p:nvSpPr>
        <p:spPr>
          <a:xfrm>
            <a:off x="8587819" y="4205928"/>
            <a:ext cx="3152957" cy="526328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7C02D-DFF5-4C6A-297C-C61EC6FC3180}"/>
              </a:ext>
            </a:extLst>
          </p:cNvPr>
          <p:cNvSpPr txBox="1"/>
          <p:nvPr/>
        </p:nvSpPr>
        <p:spPr>
          <a:xfrm>
            <a:off x="11159912" y="5842314"/>
            <a:ext cx="78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4BCC42-7683-1B4C-4F3E-A29B5D0D2A2D}"/>
              </a:ext>
            </a:extLst>
          </p:cNvPr>
          <p:cNvSpPr/>
          <p:nvPr/>
        </p:nvSpPr>
        <p:spPr>
          <a:xfrm>
            <a:off x="7797060" y="3110845"/>
            <a:ext cx="4105035" cy="312027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4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6735-DCF3-7F43-40E3-8A26C9EA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52456E-F1CE-98D2-437E-D74DEFD71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E1A67D-E08E-E402-3CBD-AC52697911F8}"/>
              </a:ext>
            </a:extLst>
          </p:cNvPr>
          <p:cNvSpPr/>
          <p:nvPr/>
        </p:nvSpPr>
        <p:spPr>
          <a:xfrm>
            <a:off x="1197203" y="2469824"/>
            <a:ext cx="3780149" cy="1093507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9FF424-DCDC-B898-20FD-602E699C277B}"/>
              </a:ext>
            </a:extLst>
          </p:cNvPr>
          <p:cNvCxnSpPr/>
          <p:nvPr/>
        </p:nvCxnSpPr>
        <p:spPr>
          <a:xfrm>
            <a:off x="1998482" y="3101418"/>
            <a:ext cx="688157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CA7AAAA-2FCB-0920-0612-C29BA7537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044" y="2469824"/>
            <a:ext cx="5284278" cy="867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D8BA4C-5851-E9C7-3163-E7172E5308B0}"/>
              </a:ext>
            </a:extLst>
          </p:cNvPr>
          <p:cNvSpPr txBox="1"/>
          <p:nvPr/>
        </p:nvSpPr>
        <p:spPr>
          <a:xfrm>
            <a:off x="7475456" y="2281286"/>
            <a:ext cx="45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02A99-8398-4BA4-0F39-E6D107FE0549}"/>
              </a:ext>
            </a:extLst>
          </p:cNvPr>
          <p:cNvSpPr txBox="1"/>
          <p:nvPr/>
        </p:nvSpPr>
        <p:spPr>
          <a:xfrm>
            <a:off x="8955463" y="6328757"/>
            <a:ext cx="299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*Heuristic as described in Annex B</a:t>
            </a:r>
          </a:p>
        </p:txBody>
      </p:sp>
    </p:spTree>
    <p:extLst>
      <p:ext uri="{BB962C8B-B14F-4D97-AF65-F5344CB8AC3E}">
        <p14:creationId xmlns:p14="http://schemas.microsoft.com/office/powerpoint/2010/main" val="871984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F82D-BD2C-8578-980E-7616B22C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23F4E1-386C-CBF8-8532-07C3D19AF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F40A00-5B60-64BC-F3E2-8788A3F77CE3}"/>
              </a:ext>
            </a:extLst>
          </p:cNvPr>
          <p:cNvSpPr/>
          <p:nvPr/>
        </p:nvSpPr>
        <p:spPr>
          <a:xfrm>
            <a:off x="1197203" y="2469824"/>
            <a:ext cx="3780149" cy="1093507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4FEB2E-C0D0-6A6D-AFF5-9F1A6D612AC7}"/>
              </a:ext>
            </a:extLst>
          </p:cNvPr>
          <p:cNvCxnSpPr/>
          <p:nvPr/>
        </p:nvCxnSpPr>
        <p:spPr>
          <a:xfrm>
            <a:off x="1998482" y="3101418"/>
            <a:ext cx="688157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2B2AC42-5D19-1433-6DBB-196A1BFFF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044" y="2469824"/>
            <a:ext cx="5284278" cy="867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A88B7D-3C3F-5563-CD4A-F684D2A947DE}"/>
                  </a:ext>
                </a:extLst>
              </p:cNvPr>
              <p:cNvSpPr txBox="1"/>
              <p:nvPr/>
            </p:nvSpPr>
            <p:spPr>
              <a:xfrm>
                <a:off x="7390614" y="3898419"/>
                <a:ext cx="4628561" cy="1867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Problems:</a:t>
                </a:r>
              </a:p>
              <a:p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“Good”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𝑃𝐴𝐵</m:t>
                        </m:r>
                      </m:sub>
                    </m:sSub>
                  </m:oMath>
                </a14:m>
                <a:r>
                  <a:rPr lang="en-US" sz="1600" b="0" dirty="0"/>
                  <a:t> depends on problem instance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𝐼𝑁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𝑃𝐴𝐵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b="0" dirty="0"/>
                  <a:t> might be empty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r>
                  <a:rPr lang="en-US" sz="1600" dirty="0"/>
                  <a:t>Tunning…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A88B7D-3C3F-5563-CD4A-F684D2A9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614" y="3898419"/>
                <a:ext cx="4628561" cy="1867819"/>
              </a:xfrm>
              <a:prstGeom prst="rect">
                <a:avLst/>
              </a:prstGeom>
              <a:blipFill>
                <a:blip r:embed="rId5"/>
                <a:stretch>
                  <a:fillRect l="-546" t="-1351"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DDCD81D-3E90-786C-8F0F-B2DE375CFE85}"/>
              </a:ext>
            </a:extLst>
          </p:cNvPr>
          <p:cNvSpPr txBox="1"/>
          <p:nvPr/>
        </p:nvSpPr>
        <p:spPr>
          <a:xfrm>
            <a:off x="7475456" y="2281286"/>
            <a:ext cx="45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25F74-C757-6AD4-C689-CB7E783328C7}"/>
              </a:ext>
            </a:extLst>
          </p:cNvPr>
          <p:cNvSpPr txBox="1"/>
          <p:nvPr/>
        </p:nvSpPr>
        <p:spPr>
          <a:xfrm>
            <a:off x="8955463" y="6328757"/>
            <a:ext cx="299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*Heuristic as described in Annex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E6D26C-64CA-1820-19E6-55B159ED35BF}"/>
              </a:ext>
            </a:extLst>
          </p:cNvPr>
          <p:cNvSpPr/>
          <p:nvPr/>
        </p:nvSpPr>
        <p:spPr>
          <a:xfrm>
            <a:off x="9040305" y="742360"/>
            <a:ext cx="1842107" cy="6502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B5264D-904F-A737-B7D6-5483A0363E12}"/>
              </a:ext>
            </a:extLst>
          </p:cNvPr>
          <p:cNvSpPr txBox="1"/>
          <p:nvPr/>
        </p:nvSpPr>
        <p:spPr>
          <a:xfrm>
            <a:off x="9040305" y="805874"/>
            <a:ext cx="1842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TODO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</a:p>
          <a:p>
            <a:r>
              <a:rPr lang="en-US" sz="1400" dirty="0">
                <a:solidFill>
                  <a:srgbClr val="0070C0"/>
                </a:solidFill>
              </a:rPr>
              <a:t>more cut approaches</a:t>
            </a:r>
          </a:p>
        </p:txBody>
      </p:sp>
    </p:spTree>
    <p:extLst>
      <p:ext uri="{BB962C8B-B14F-4D97-AF65-F5344CB8AC3E}">
        <p14:creationId xmlns:p14="http://schemas.microsoft.com/office/powerpoint/2010/main" val="82276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8E46-331E-46C7-1046-3B081C2A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D5DCD0-23A6-2F9F-96F0-81B45CE6A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88EEB52-93ED-0FCB-1E93-3110CA9A0B4E}"/>
              </a:ext>
            </a:extLst>
          </p:cNvPr>
          <p:cNvSpPr/>
          <p:nvPr/>
        </p:nvSpPr>
        <p:spPr>
          <a:xfrm>
            <a:off x="1178349" y="3563333"/>
            <a:ext cx="5363853" cy="218701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9308-B7B1-5821-9E13-EA153919CD38}"/>
              </a:ext>
            </a:extLst>
          </p:cNvPr>
          <p:cNvSpPr txBox="1"/>
          <p:nvPr/>
        </p:nvSpPr>
        <p:spPr>
          <a:xfrm>
            <a:off x="8352149" y="4472176"/>
            <a:ext cx="248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 cut approaches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E4F845-ADD5-F1AB-1603-244C9CDDC04D}"/>
              </a:ext>
            </a:extLst>
          </p:cNvPr>
          <p:cNvCxnSpPr>
            <a:cxnSpLocks/>
          </p:cNvCxnSpPr>
          <p:nvPr/>
        </p:nvCxnSpPr>
        <p:spPr>
          <a:xfrm>
            <a:off x="1989055" y="4194927"/>
            <a:ext cx="16214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B53695-25BE-B7EC-3F0E-6D61D7F4A07C}"/>
              </a:ext>
            </a:extLst>
          </p:cNvPr>
          <p:cNvCxnSpPr>
            <a:cxnSpLocks/>
          </p:cNvCxnSpPr>
          <p:nvPr/>
        </p:nvCxnSpPr>
        <p:spPr>
          <a:xfrm>
            <a:off x="1989055" y="5290008"/>
            <a:ext cx="2290714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56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CF9BE-5EAF-8728-34AE-F854F0D3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D9099-1761-C2EA-F152-AAB9390E2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929" y="700234"/>
            <a:ext cx="6618710" cy="545753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B27ED1-8418-2DB5-A2AD-A1ED03C83826}"/>
              </a:ext>
            </a:extLst>
          </p:cNvPr>
          <p:cNvSpPr/>
          <p:nvPr/>
        </p:nvSpPr>
        <p:spPr>
          <a:xfrm>
            <a:off x="933253" y="5825765"/>
            <a:ext cx="1291473" cy="21681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58D9E7-33E2-F4F4-AF0A-E6E928C12486}"/>
                  </a:ext>
                </a:extLst>
              </p:cNvPr>
              <p:cNvSpPr txBox="1"/>
              <p:nvPr/>
            </p:nvSpPr>
            <p:spPr>
              <a:xfrm>
                <a:off x="7183226" y="2846894"/>
                <a:ext cx="4522520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solidFill>
                      <a:srgbClr val="0070C0"/>
                    </a:solidFill>
                  </a:rPr>
                  <a:t>Can we activate block orders which </a:t>
                </a:r>
              </a:p>
              <a:p>
                <a:r>
                  <a:rPr lang="en-US" i="1" dirty="0">
                    <a:solidFill>
                      <a:srgbClr val="0070C0"/>
                    </a:solidFill>
                  </a:rPr>
                  <a:t>are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in-the-money</a:t>
                </a:r>
                <a:r>
                  <a:rPr lang="en-US" i="1" dirty="0">
                    <a:solidFill>
                      <a:srgbClr val="0070C0"/>
                    </a:solidFill>
                  </a:rPr>
                  <a:t>?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Yes if: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master objective does not decrease 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 PAB (given the new prices) AND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MIC/MP conditions are not violated (…)</a:t>
                </a:r>
              </a:p>
              <a:p>
                <a:endParaRPr lang="en-US" dirty="0"/>
              </a:p>
              <a:p>
                <a:r>
                  <a:rPr lang="en-US" dirty="0"/>
                  <a:t>Problem: expensive step (re-optimization)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58D9E7-33E2-F4F4-AF0A-E6E928C12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226" y="2846894"/>
                <a:ext cx="4522520" cy="2862322"/>
              </a:xfrm>
              <a:prstGeom prst="rect">
                <a:avLst/>
              </a:prstGeom>
              <a:blipFill>
                <a:blip r:embed="rId4"/>
                <a:stretch>
                  <a:fillRect l="-1120" t="-885" r="-280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76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80F6-B546-834F-260F-E67E47E2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CD65-DF71-B228-6762-233B7A9D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9B832-1C5A-4794-FA82-4B646E7AE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Price determination subproblem – version 2 (QP)</a:t>
            </a:r>
          </a:p>
          <a:p>
            <a:pPr lvl="1"/>
            <a:r>
              <a:rPr lang="en-US" sz="1600" dirty="0"/>
              <a:t>Integrate upper &amp; lower price bounds</a:t>
            </a:r>
          </a:p>
          <a:p>
            <a:endParaRPr lang="en-US" sz="2000" dirty="0"/>
          </a:p>
          <a:p>
            <a:r>
              <a:rPr lang="en-US" sz="2000" dirty="0"/>
              <a:t>Optimizations (cut creation)</a:t>
            </a:r>
          </a:p>
          <a:p>
            <a:endParaRPr lang="en-US" sz="2000" dirty="0"/>
          </a:p>
          <a:p>
            <a:r>
              <a:rPr lang="en-US" sz="2000" dirty="0"/>
              <a:t>Data generation</a:t>
            </a:r>
          </a:p>
          <a:p>
            <a:endParaRPr lang="en-US" sz="2000" dirty="0"/>
          </a:p>
          <a:p>
            <a:r>
              <a:rPr lang="en-US" sz="2000" dirty="0"/>
              <a:t>Testing</a:t>
            </a:r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69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Widescreen</PresentationFormat>
  <Paragraphs>93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Symbol</vt:lpstr>
      <vt:lpstr>Office Theme</vt:lpstr>
      <vt:lpstr>APEM Monthly Meeting</vt:lpstr>
      <vt:lpstr>Agenda</vt:lpstr>
      <vt:lpstr>Timeline</vt:lpstr>
      <vt:lpstr>Project updates - EUPHEMIA</vt:lpstr>
      <vt:lpstr>Orders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Dobos</cp:lastModifiedBy>
  <cp:revision>27</cp:revision>
  <dcterms:created xsi:type="dcterms:W3CDTF">2024-07-10T11:40:56Z</dcterms:created>
  <dcterms:modified xsi:type="dcterms:W3CDTF">2024-11-29T13:27:11Z</dcterms:modified>
</cp:coreProperties>
</file>